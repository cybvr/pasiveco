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094476" cy="6858000"/>
          </a:xfrm>
          <a:prstGeom prst="rect">
            <a:avLst/>
          </a:prstGeom>
          <a:solidFill>
            <a:srgbClr val="CC1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365760"/>
            <a:ext cx="5637276" cy="2743200"/>
          </a:xfrm>
          <a:prstGeom prst="rect">
            <a:avLst/>
          </a:prstGeom>
          <a:noFill/>
        </p:spPr>
        <p:txBody>
          <a:bodyPr wrap="square">
            <a:spAutoFit/>
          </a:bodyPr>
          <a:lstStyle/>
          <a:p>
            <a:pPr algn="l"/>
            <a:r>
              <a:rPr sz="6200" b="1" i="0">
                <a:solidFill>
                  <a:srgbClr val="FFFFFF"/>
                </a:solidFill>
                <a:latin typeface="Arial Black"/>
              </a:rPr>
              <a:t>COMM
CORP</a:t>
            </a:r>
          </a:p>
        </p:txBody>
      </p:sp>
      <p:sp>
        <p:nvSpPr>
          <p:cNvPr id="4" name="TextBox 3"/>
          <p:cNvSpPr txBox="1"/>
          <p:nvPr/>
        </p:nvSpPr>
        <p:spPr>
          <a:xfrm>
            <a:off x="365760" y="5852160"/>
            <a:ext cx="5637276" cy="548640"/>
          </a:xfrm>
          <a:prstGeom prst="rect">
            <a:avLst/>
          </a:prstGeom>
          <a:noFill/>
        </p:spPr>
        <p:txBody>
          <a:bodyPr wrap="square">
            <a:spAutoFit/>
          </a:bodyPr>
          <a:lstStyle/>
          <a:p>
            <a:pPr algn="l"/>
            <a:r>
              <a:rPr sz="750" b="0" i="0">
                <a:solidFill>
                  <a:srgbClr val="FFFFFF"/>
                </a:solidFill>
                <a:latin typeface="DM Sans"/>
              </a:rPr>
              <a:t>Creative Business Partners — Lagos &amp; Beyond</a:t>
            </a:r>
          </a:p>
        </p:txBody>
      </p:sp>
      <p:sp>
        <p:nvSpPr>
          <p:cNvPr id="5" name="Rectangle 4"/>
          <p:cNvSpPr/>
          <p:nvPr/>
        </p:nvSpPr>
        <p:spPr>
          <a:xfrm>
            <a:off x="6094476" y="0"/>
            <a:ext cx="6094476" cy="6858000"/>
          </a:xfrm>
          <a:prstGeom prst="rect">
            <a:avLst/>
          </a:prstGeom>
          <a:solidFill>
            <a:srgbClr val="0E0E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68796" y="548640"/>
            <a:ext cx="5637276" cy="1371600"/>
          </a:xfrm>
          <a:prstGeom prst="rect">
            <a:avLst/>
          </a:prstGeom>
          <a:noFill/>
        </p:spPr>
        <p:txBody>
          <a:bodyPr wrap="square">
            <a:spAutoFit/>
          </a:bodyPr>
          <a:lstStyle/>
          <a:p>
            <a:pPr algn="l"/>
            <a:r>
              <a:rPr sz="1100" b="0" i="1">
                <a:solidFill>
                  <a:srgbClr val="FFFFFF"/>
                </a:solidFill>
                <a:latin typeface="Georgia"/>
              </a:rPr>
              <a:t>Nigeria's enterprise teams are building world-class brands.
They need world-class creative execution to match.</a:t>
            </a:r>
          </a:p>
        </p:txBody>
      </p:sp>
      <p:sp>
        <p:nvSpPr>
          <p:cNvPr id="7" name="TextBox 6"/>
          <p:cNvSpPr txBox="1"/>
          <p:nvPr/>
        </p:nvSpPr>
        <p:spPr>
          <a:xfrm>
            <a:off x="6368796" y="2286000"/>
            <a:ext cx="5637276" cy="822960"/>
          </a:xfrm>
          <a:prstGeom prst="rect">
            <a:avLst/>
          </a:prstGeom>
          <a:noFill/>
        </p:spPr>
        <p:txBody>
          <a:bodyPr wrap="square">
            <a:spAutoFit/>
          </a:bodyPr>
          <a:lstStyle/>
          <a:p>
            <a:pPr algn="l"/>
            <a:r>
              <a:rPr sz="3600" b="1" i="0">
                <a:solidFill>
                  <a:srgbClr val="CC1500"/>
                </a:solidFill>
                <a:latin typeface="Arial Black"/>
              </a:rPr>
              <a:t>₦4.7T</a:t>
            </a:r>
          </a:p>
        </p:txBody>
      </p:sp>
      <p:sp>
        <p:nvSpPr>
          <p:cNvPr id="8" name="TextBox 7"/>
          <p:cNvSpPr txBox="1"/>
          <p:nvPr/>
        </p:nvSpPr>
        <p:spPr>
          <a:xfrm>
            <a:off x="6368796" y="3063240"/>
            <a:ext cx="5637276" cy="731520"/>
          </a:xfrm>
          <a:prstGeom prst="rect">
            <a:avLst/>
          </a:prstGeom>
          <a:noFill/>
        </p:spPr>
        <p:txBody>
          <a:bodyPr wrap="square">
            <a:spAutoFit/>
          </a:bodyPr>
          <a:lstStyle/>
          <a:p>
            <a:pPr algn="l"/>
            <a:r>
              <a:rPr sz="800" b="0" i="0">
                <a:solidFill>
                  <a:srgbClr val="888888"/>
                </a:solidFill>
                <a:latin typeface="DM Sans"/>
              </a:rPr>
              <a:t>Nigeria's advertising &amp; marketing services industry, growing 12% year-on-year</a:t>
            </a:r>
          </a:p>
        </p:txBody>
      </p:sp>
      <p:sp>
        <p:nvSpPr>
          <p:cNvPr id="9" name="TextBox 8"/>
          <p:cNvSpPr txBox="1"/>
          <p:nvPr/>
        </p:nvSpPr>
        <p:spPr>
          <a:xfrm>
            <a:off x="6368796" y="4297680"/>
            <a:ext cx="5637276" cy="822960"/>
          </a:xfrm>
          <a:prstGeom prst="rect">
            <a:avLst/>
          </a:prstGeom>
          <a:noFill/>
        </p:spPr>
        <p:txBody>
          <a:bodyPr wrap="square">
            <a:spAutoFit/>
          </a:bodyPr>
          <a:lstStyle/>
          <a:p>
            <a:pPr algn="l"/>
            <a:r>
              <a:rPr sz="3600" b="1" i="0">
                <a:solidFill>
                  <a:srgbClr val="CC1500"/>
                </a:solidFill>
                <a:latin typeface="Arial Black"/>
              </a:rPr>
              <a:t>68%</a:t>
            </a:r>
          </a:p>
        </p:txBody>
      </p:sp>
      <p:sp>
        <p:nvSpPr>
          <p:cNvPr id="10" name="TextBox 9"/>
          <p:cNvSpPr txBox="1"/>
          <p:nvPr/>
        </p:nvSpPr>
        <p:spPr>
          <a:xfrm>
            <a:off x="6368796" y="5074920"/>
            <a:ext cx="5637276" cy="731520"/>
          </a:xfrm>
          <a:prstGeom prst="rect">
            <a:avLst/>
          </a:prstGeom>
          <a:noFill/>
        </p:spPr>
        <p:txBody>
          <a:bodyPr wrap="square">
            <a:spAutoFit/>
          </a:bodyPr>
          <a:lstStyle/>
          <a:p>
            <a:pPr algn="l"/>
            <a:r>
              <a:rPr sz="800" b="0" i="0">
                <a:solidFill>
                  <a:srgbClr val="888888"/>
                </a:solidFill>
                <a:latin typeface="DM Sans"/>
              </a:rPr>
              <a:t>of Nigerian CMOs cite talent mismatch as their top creative execution challenge</a:t>
            </a:r>
          </a:p>
        </p:txBody>
      </p:sp>
      <p:sp>
        <p:nvSpPr>
          <p:cNvPr id="11" name="TextBox 10"/>
          <p:cNvSpPr txBox="1"/>
          <p:nvPr/>
        </p:nvSpPr>
        <p:spPr>
          <a:xfrm>
            <a:off x="11274552" y="6583680"/>
            <a:ext cx="731520" cy="228600"/>
          </a:xfrm>
          <a:prstGeom prst="rect">
            <a:avLst/>
          </a:prstGeom>
          <a:noFill/>
        </p:spPr>
        <p:txBody>
          <a:bodyPr wrap="square">
            <a:spAutoFit/>
          </a:bodyPr>
          <a:lstStyle/>
          <a:p>
            <a:pPr algn="r"/>
            <a:r>
              <a:rPr sz="700" b="0" i="0">
                <a:solidFill>
                  <a:srgbClr val="555555"/>
                </a:solidFill>
                <a:latin typeface="DM Sans"/>
              </a:rPr>
              <a:t>01 / 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6868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5486400" cy="640080"/>
          </a:xfrm>
          <a:prstGeom prst="rect">
            <a:avLst/>
          </a:prstGeom>
          <a:noFill/>
        </p:spPr>
        <p:txBody>
          <a:bodyPr wrap="square">
            <a:spAutoFit/>
          </a:bodyPr>
          <a:lstStyle/>
          <a:p>
            <a:pPr algn="l"/>
            <a:r>
              <a:rPr sz="2600" b="1" i="0">
                <a:solidFill>
                  <a:srgbClr val="FFFFFF"/>
                </a:solidFill>
                <a:latin typeface="Arial Black"/>
              </a:rPr>
              <a:t>The Problem Is Real</a:t>
            </a:r>
          </a:p>
        </p:txBody>
      </p:sp>
      <p:sp>
        <p:nvSpPr>
          <p:cNvPr id="5" name="TextBox 4"/>
          <p:cNvSpPr txBox="1"/>
          <p:nvPr/>
        </p:nvSpPr>
        <p:spPr>
          <a:xfrm>
            <a:off x="6217920" y="274320"/>
            <a:ext cx="3657600" cy="457200"/>
          </a:xfrm>
          <a:prstGeom prst="rect">
            <a:avLst/>
          </a:prstGeom>
          <a:noFill/>
        </p:spPr>
        <p:txBody>
          <a:bodyPr wrap="square">
            <a:spAutoFit/>
          </a:bodyPr>
          <a:lstStyle/>
          <a:p>
            <a:pPr algn="l"/>
            <a:r>
              <a:rPr sz="800" b="0" i="0">
                <a:solidFill>
                  <a:srgbClr val="888888"/>
                </a:solidFill>
                <a:latin typeface="DM Sans"/>
              </a:rPr>
              <a:t>and it costs more than money</a:t>
            </a:r>
          </a:p>
        </p:txBody>
      </p:sp>
      <p:sp>
        <p:nvSpPr>
          <p:cNvPr id="6" name="Rectangle 5"/>
          <p:cNvSpPr/>
          <p:nvPr/>
        </p:nvSpPr>
        <p:spPr>
          <a:xfrm>
            <a:off x="0" y="868680"/>
            <a:ext cx="4062984" cy="5989320"/>
          </a:xfrm>
          <a:prstGeom prst="rect">
            <a:avLst/>
          </a:prstGeom>
          <a:solidFill>
            <a:srgbClr val="F5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148584" y="960120"/>
            <a:ext cx="822960" cy="1097280"/>
          </a:xfrm>
          <a:prstGeom prst="rect">
            <a:avLst/>
          </a:prstGeom>
          <a:noFill/>
        </p:spPr>
        <p:txBody>
          <a:bodyPr wrap="square">
            <a:spAutoFit/>
          </a:bodyPr>
          <a:lstStyle/>
          <a:p>
            <a:pPr algn="r"/>
            <a:r>
              <a:rPr sz="5400" b="1" i="0">
                <a:solidFill>
                  <a:srgbClr val="E8DFD0"/>
                </a:solidFill>
                <a:latin typeface="Arial Black"/>
              </a:rPr>
              <a:t>1</a:t>
            </a:r>
          </a:p>
        </p:txBody>
      </p:sp>
      <p:sp>
        <p:nvSpPr>
          <p:cNvPr id="8" name="TextBox 7"/>
          <p:cNvSpPr txBox="1"/>
          <p:nvPr/>
        </p:nvSpPr>
        <p:spPr>
          <a:xfrm>
            <a:off x="228600" y="1874520"/>
            <a:ext cx="3697224" cy="457200"/>
          </a:xfrm>
          <a:prstGeom prst="rect">
            <a:avLst/>
          </a:prstGeom>
          <a:noFill/>
        </p:spPr>
        <p:txBody>
          <a:bodyPr wrap="square">
            <a:spAutoFit/>
          </a:bodyPr>
          <a:lstStyle/>
          <a:p>
            <a:pPr algn="l"/>
            <a:r>
              <a:rPr sz="850" b="1" i="0">
                <a:solidFill>
                  <a:srgbClr val="CC1500"/>
                </a:solidFill>
                <a:latin typeface="DM Sans"/>
              </a:rPr>
              <a:t>THE GHOST VENDOR</a:t>
            </a:r>
          </a:p>
        </p:txBody>
      </p:sp>
      <p:sp>
        <p:nvSpPr>
          <p:cNvPr id="9" name="TextBox 8"/>
          <p:cNvSpPr txBox="1"/>
          <p:nvPr/>
        </p:nvSpPr>
        <p:spPr>
          <a:xfrm>
            <a:off x="228600" y="2377440"/>
            <a:ext cx="3697224" cy="3200400"/>
          </a:xfrm>
          <a:prstGeom prst="rect">
            <a:avLst/>
          </a:prstGeom>
          <a:noFill/>
        </p:spPr>
        <p:txBody>
          <a:bodyPr wrap="square">
            <a:spAutoFit/>
          </a:bodyPr>
          <a:lstStyle/>
          <a:p>
            <a:pPr algn="l"/>
            <a:r>
              <a:rPr sz="800" b="0" i="0">
                <a:solidFill>
                  <a:srgbClr val="444444"/>
                </a:solidFill>
                <a:latin typeface="DM Sans"/>
              </a:rPr>
              <a:t>A Nigerian brand manager spends 3 weeks briefing a freelancer. They go dark after the advance drops. The campaign misses its window. It happens constantly — and there's no structure to prevent it.</a:t>
            </a:r>
          </a:p>
        </p:txBody>
      </p:sp>
      <p:sp>
        <p:nvSpPr>
          <p:cNvPr id="10" name="TextBox 9"/>
          <p:cNvSpPr txBox="1"/>
          <p:nvPr/>
        </p:nvSpPr>
        <p:spPr>
          <a:xfrm>
            <a:off x="228600" y="6355080"/>
            <a:ext cx="3697224" cy="365760"/>
          </a:xfrm>
          <a:prstGeom prst="rect">
            <a:avLst/>
          </a:prstGeom>
          <a:noFill/>
        </p:spPr>
        <p:txBody>
          <a:bodyPr wrap="square">
            <a:spAutoFit/>
          </a:bodyPr>
          <a:lstStyle/>
          <a:p>
            <a:pPr algn="l"/>
            <a:r>
              <a:rPr sz="700" b="0" i="1">
                <a:solidFill>
                  <a:srgbClr val="AAAAAA"/>
                </a:solidFill>
                <a:latin typeface="DM Sans"/>
              </a:rPr>
              <a:t>Pattern observed across 40+ enterprise engagements in Lagos, Abuja &amp; PH</a:t>
            </a:r>
          </a:p>
        </p:txBody>
      </p:sp>
      <p:sp>
        <p:nvSpPr>
          <p:cNvPr id="11" name="Rectangle 10"/>
          <p:cNvSpPr/>
          <p:nvPr/>
        </p:nvSpPr>
        <p:spPr>
          <a:xfrm>
            <a:off x="4059809" y="868680"/>
            <a:ext cx="6350" cy="5989320"/>
          </a:xfrm>
          <a:prstGeom prst="rect">
            <a:avLst/>
          </a:prstGeom>
          <a:solidFill>
            <a:srgbClr val="E8DF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062984" y="868680"/>
            <a:ext cx="4062984" cy="5989320"/>
          </a:xfrm>
          <a:prstGeom prst="rect">
            <a:avLst/>
          </a:prstGeom>
          <a:solidFill>
            <a:srgbClr val="F0E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11568" y="960120"/>
            <a:ext cx="822960" cy="1097280"/>
          </a:xfrm>
          <a:prstGeom prst="rect">
            <a:avLst/>
          </a:prstGeom>
          <a:noFill/>
        </p:spPr>
        <p:txBody>
          <a:bodyPr wrap="square">
            <a:spAutoFit/>
          </a:bodyPr>
          <a:lstStyle/>
          <a:p>
            <a:pPr algn="r"/>
            <a:r>
              <a:rPr sz="5400" b="1" i="0">
                <a:solidFill>
                  <a:srgbClr val="E8DFD0"/>
                </a:solidFill>
                <a:latin typeface="Arial Black"/>
              </a:rPr>
              <a:t>2</a:t>
            </a:r>
          </a:p>
        </p:txBody>
      </p:sp>
      <p:sp>
        <p:nvSpPr>
          <p:cNvPr id="14" name="TextBox 13"/>
          <p:cNvSpPr txBox="1"/>
          <p:nvPr/>
        </p:nvSpPr>
        <p:spPr>
          <a:xfrm>
            <a:off x="4291584" y="1874520"/>
            <a:ext cx="3697224" cy="457200"/>
          </a:xfrm>
          <a:prstGeom prst="rect">
            <a:avLst/>
          </a:prstGeom>
          <a:noFill/>
        </p:spPr>
        <p:txBody>
          <a:bodyPr wrap="square">
            <a:spAutoFit/>
          </a:bodyPr>
          <a:lstStyle/>
          <a:p>
            <a:pPr algn="l"/>
            <a:r>
              <a:rPr sz="850" b="1" i="0">
                <a:solidFill>
                  <a:srgbClr val="CC1500"/>
                </a:solidFill>
                <a:latin typeface="DM Sans"/>
              </a:rPr>
              <a:t>THE IMPORT DEFAULT</a:t>
            </a:r>
          </a:p>
        </p:txBody>
      </p:sp>
      <p:sp>
        <p:nvSpPr>
          <p:cNvPr id="15" name="TextBox 14"/>
          <p:cNvSpPr txBox="1"/>
          <p:nvPr/>
        </p:nvSpPr>
        <p:spPr>
          <a:xfrm>
            <a:off x="4291584" y="2377440"/>
            <a:ext cx="3697224" cy="3200400"/>
          </a:xfrm>
          <a:prstGeom prst="rect">
            <a:avLst/>
          </a:prstGeom>
          <a:noFill/>
        </p:spPr>
        <p:txBody>
          <a:bodyPr wrap="square">
            <a:spAutoFit/>
          </a:bodyPr>
          <a:lstStyle/>
          <a:p>
            <a:pPr algn="l"/>
            <a:r>
              <a:rPr sz="800" b="0" i="0">
                <a:solidFill>
                  <a:srgbClr val="444444"/>
                </a:solidFill>
                <a:latin typeface="DM Sans"/>
              </a:rPr>
              <a:t>Brands assume global agencies understand local context. They don't. Ads that land flat in Yaba, copy that misses pidgin tonality, visuals that say nothing to a Kano audience. Expensive mistakes with polished invoices.</a:t>
            </a:r>
          </a:p>
        </p:txBody>
      </p:sp>
      <p:sp>
        <p:nvSpPr>
          <p:cNvPr id="16" name="TextBox 15"/>
          <p:cNvSpPr txBox="1"/>
          <p:nvPr/>
        </p:nvSpPr>
        <p:spPr>
          <a:xfrm>
            <a:off x="4291584" y="6355080"/>
            <a:ext cx="3697224" cy="365760"/>
          </a:xfrm>
          <a:prstGeom prst="rect">
            <a:avLst/>
          </a:prstGeom>
          <a:noFill/>
        </p:spPr>
        <p:txBody>
          <a:bodyPr wrap="square">
            <a:spAutoFit/>
          </a:bodyPr>
          <a:lstStyle/>
          <a:p>
            <a:pPr algn="l"/>
            <a:r>
              <a:rPr sz="700" b="0" i="1">
                <a:solidFill>
                  <a:srgbClr val="AAAAAA"/>
                </a:solidFill>
                <a:latin typeface="DM Sans"/>
              </a:rPr>
              <a:t>Deloitte Africa Consumer Survey, 2023</a:t>
            </a:r>
          </a:p>
        </p:txBody>
      </p:sp>
      <p:sp>
        <p:nvSpPr>
          <p:cNvPr id="17" name="Rectangle 16"/>
          <p:cNvSpPr/>
          <p:nvPr/>
        </p:nvSpPr>
        <p:spPr>
          <a:xfrm>
            <a:off x="8122793" y="868680"/>
            <a:ext cx="6350" cy="5989320"/>
          </a:xfrm>
          <a:prstGeom prst="rect">
            <a:avLst/>
          </a:prstGeom>
          <a:solidFill>
            <a:srgbClr val="E8DF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25968" y="868680"/>
            <a:ext cx="4062984" cy="5989320"/>
          </a:xfrm>
          <a:prstGeom prst="rect">
            <a:avLst/>
          </a:prstGeom>
          <a:solidFill>
            <a:srgbClr val="F5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274552" y="960120"/>
            <a:ext cx="822960" cy="1097280"/>
          </a:xfrm>
          <a:prstGeom prst="rect">
            <a:avLst/>
          </a:prstGeom>
          <a:noFill/>
        </p:spPr>
        <p:txBody>
          <a:bodyPr wrap="square">
            <a:spAutoFit/>
          </a:bodyPr>
          <a:lstStyle/>
          <a:p>
            <a:pPr algn="r"/>
            <a:r>
              <a:rPr sz="5400" b="1" i="0">
                <a:solidFill>
                  <a:srgbClr val="E8DFD0"/>
                </a:solidFill>
                <a:latin typeface="Arial Black"/>
              </a:rPr>
              <a:t>3</a:t>
            </a:r>
          </a:p>
        </p:txBody>
      </p:sp>
      <p:sp>
        <p:nvSpPr>
          <p:cNvPr id="20" name="TextBox 19"/>
          <p:cNvSpPr txBox="1"/>
          <p:nvPr/>
        </p:nvSpPr>
        <p:spPr>
          <a:xfrm>
            <a:off x="8354568" y="1874520"/>
            <a:ext cx="3697224" cy="457200"/>
          </a:xfrm>
          <a:prstGeom prst="rect">
            <a:avLst/>
          </a:prstGeom>
          <a:noFill/>
        </p:spPr>
        <p:txBody>
          <a:bodyPr wrap="square">
            <a:spAutoFit/>
          </a:bodyPr>
          <a:lstStyle/>
          <a:p>
            <a:pPr algn="l"/>
            <a:r>
              <a:rPr sz="850" b="1" i="0">
                <a:solidFill>
                  <a:srgbClr val="CC1500"/>
                </a:solidFill>
                <a:latin typeface="DM Sans"/>
              </a:rPr>
              <a:t>THE ACCOUNTABILITY GAP</a:t>
            </a:r>
          </a:p>
        </p:txBody>
      </p:sp>
      <p:sp>
        <p:nvSpPr>
          <p:cNvPr id="21" name="TextBox 20"/>
          <p:cNvSpPr txBox="1"/>
          <p:nvPr/>
        </p:nvSpPr>
        <p:spPr>
          <a:xfrm>
            <a:off x="8354568" y="2377440"/>
            <a:ext cx="3697224" cy="3200400"/>
          </a:xfrm>
          <a:prstGeom prst="rect">
            <a:avLst/>
          </a:prstGeom>
          <a:noFill/>
        </p:spPr>
        <p:txBody>
          <a:bodyPr wrap="square">
            <a:spAutoFit/>
          </a:bodyPr>
          <a:lstStyle/>
          <a:p>
            <a:pPr algn="l"/>
            <a:r>
              <a:rPr sz="800" b="0" i="0">
                <a:solidFill>
                  <a:srgbClr val="444444"/>
                </a:solidFill>
                <a:latin typeface="DM Sans"/>
              </a:rPr>
              <a:t>Once creative is outsourced, the internal team loses control. Revisions become arguments. Timelines become negotiations. And the marketing director takes the heat for work they couldn't actually direct.</a:t>
            </a:r>
          </a:p>
        </p:txBody>
      </p:sp>
      <p:sp>
        <p:nvSpPr>
          <p:cNvPr id="22" name="TextBox 21"/>
          <p:cNvSpPr txBox="1"/>
          <p:nvPr/>
        </p:nvSpPr>
        <p:spPr>
          <a:xfrm>
            <a:off x="8354568" y="6355080"/>
            <a:ext cx="3697224" cy="365760"/>
          </a:xfrm>
          <a:prstGeom prst="rect">
            <a:avLst/>
          </a:prstGeom>
          <a:noFill/>
        </p:spPr>
        <p:txBody>
          <a:bodyPr wrap="square">
            <a:spAutoFit/>
          </a:bodyPr>
          <a:lstStyle/>
          <a:p>
            <a:pPr algn="l"/>
            <a:r>
              <a:rPr sz="700" b="0" i="1">
                <a:solidFill>
                  <a:srgbClr val="AAAAAA"/>
                </a:solidFill>
                <a:latin typeface="DM Sans"/>
              </a:rPr>
              <a:t>McKinsey Africa Creative Economy Report</a:t>
            </a:r>
          </a:p>
        </p:txBody>
      </p:sp>
      <p:sp>
        <p:nvSpPr>
          <p:cNvPr id="23" name="TextBox 22"/>
          <p:cNvSpPr txBox="1"/>
          <p:nvPr/>
        </p:nvSpPr>
        <p:spPr>
          <a:xfrm>
            <a:off x="11274552" y="6583680"/>
            <a:ext cx="731520" cy="228600"/>
          </a:xfrm>
          <a:prstGeom prst="rect">
            <a:avLst/>
          </a:prstGeom>
          <a:noFill/>
        </p:spPr>
        <p:txBody>
          <a:bodyPr wrap="square">
            <a:spAutoFit/>
          </a:bodyPr>
          <a:lstStyle/>
          <a:p>
            <a:pPr algn="r"/>
            <a:r>
              <a:rPr sz="700" b="0" i="0">
                <a:solidFill>
                  <a:srgbClr val="999999"/>
                </a:solidFill>
                <a:latin typeface="DM Sans"/>
              </a:rPr>
              <a:t>02 / 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E0E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5028" cy="6858000"/>
          </a:xfrm>
          <a:prstGeom prst="rect">
            <a:avLst/>
          </a:prstGeom>
          <a:solidFill>
            <a:srgbClr val="CC1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365760"/>
            <a:ext cx="5027828" cy="365760"/>
          </a:xfrm>
          <a:prstGeom prst="rect">
            <a:avLst/>
          </a:prstGeom>
          <a:noFill/>
        </p:spPr>
        <p:txBody>
          <a:bodyPr wrap="square">
            <a:spAutoFit/>
          </a:bodyPr>
          <a:lstStyle/>
          <a:p>
            <a:pPr algn="l"/>
            <a:r>
              <a:rPr sz="700" b="0" i="0">
                <a:solidFill>
                  <a:srgbClr val="FFFFFF"/>
                </a:solidFill>
                <a:latin typeface="DM Sans"/>
              </a:rPr>
              <a:t>THE COMMCORP DIFFERENCE</a:t>
            </a:r>
          </a:p>
        </p:txBody>
      </p:sp>
      <p:sp>
        <p:nvSpPr>
          <p:cNvPr id="5" name="TextBox 4"/>
          <p:cNvSpPr txBox="1"/>
          <p:nvPr/>
        </p:nvSpPr>
        <p:spPr>
          <a:xfrm>
            <a:off x="365760" y="1371600"/>
            <a:ext cx="5027828" cy="3200400"/>
          </a:xfrm>
          <a:prstGeom prst="rect">
            <a:avLst/>
          </a:prstGeom>
          <a:noFill/>
        </p:spPr>
        <p:txBody>
          <a:bodyPr wrap="square">
            <a:spAutoFit/>
          </a:bodyPr>
          <a:lstStyle/>
          <a:p>
            <a:pPr algn="l"/>
            <a:r>
              <a:rPr sz="1500" b="0" i="1">
                <a:solidFill>
                  <a:srgbClr val="FFFFFF"/>
                </a:solidFill>
                <a:latin typeface="Georgia"/>
              </a:rPr>
              <a:t>“The best Nigerian talent isn’t on Fiverr.
It’s in someone’s phone book.
The question is whose.”</a:t>
            </a:r>
          </a:p>
        </p:txBody>
      </p:sp>
      <p:sp>
        <p:nvSpPr>
          <p:cNvPr id="6" name="TextBox 5"/>
          <p:cNvSpPr txBox="1"/>
          <p:nvPr/>
        </p:nvSpPr>
        <p:spPr>
          <a:xfrm>
            <a:off x="365760" y="5943600"/>
            <a:ext cx="5027828" cy="457200"/>
          </a:xfrm>
          <a:prstGeom prst="rect">
            <a:avLst/>
          </a:prstGeom>
          <a:noFill/>
        </p:spPr>
        <p:txBody>
          <a:bodyPr wrap="square">
            <a:spAutoFit/>
          </a:bodyPr>
          <a:lstStyle/>
          <a:p>
            <a:pPr algn="l"/>
            <a:r>
              <a:rPr sz="800" b="0" i="1">
                <a:solidFill>
                  <a:srgbClr val="FFFFFF"/>
                </a:solidFill>
                <a:latin typeface="DM Sans"/>
              </a:rPr>
              <a:t>— The problem we were built to solve</a:t>
            </a:r>
          </a:p>
        </p:txBody>
      </p:sp>
      <p:sp>
        <p:nvSpPr>
          <p:cNvPr id="7" name="TextBox 6"/>
          <p:cNvSpPr txBox="1"/>
          <p:nvPr/>
        </p:nvSpPr>
        <p:spPr>
          <a:xfrm>
            <a:off x="5759348" y="365760"/>
            <a:ext cx="274320" cy="365760"/>
          </a:xfrm>
          <a:prstGeom prst="rect">
            <a:avLst/>
          </a:prstGeom>
          <a:noFill/>
        </p:spPr>
        <p:txBody>
          <a:bodyPr wrap="square">
            <a:spAutoFit/>
          </a:bodyPr>
          <a:lstStyle/>
          <a:p>
            <a:pPr algn="l"/>
            <a:r>
              <a:rPr sz="1300" b="0" i="0">
                <a:solidFill>
                  <a:srgbClr val="CC1500"/>
                </a:solidFill>
                <a:latin typeface="DM Sans"/>
              </a:rPr>
              <a:t>→</a:t>
            </a:r>
          </a:p>
        </p:txBody>
      </p:sp>
      <p:sp>
        <p:nvSpPr>
          <p:cNvPr id="8" name="TextBox 7"/>
          <p:cNvSpPr txBox="1"/>
          <p:nvPr/>
        </p:nvSpPr>
        <p:spPr>
          <a:xfrm>
            <a:off x="6079388" y="365760"/>
            <a:ext cx="5880964" cy="457200"/>
          </a:xfrm>
          <a:prstGeom prst="rect">
            <a:avLst/>
          </a:prstGeom>
          <a:noFill/>
        </p:spPr>
        <p:txBody>
          <a:bodyPr wrap="square">
            <a:spAutoFit/>
          </a:bodyPr>
          <a:lstStyle/>
          <a:p>
            <a:pPr algn="l"/>
            <a:r>
              <a:rPr sz="900" b="1" i="0">
                <a:solidFill>
                  <a:srgbClr val="FFFFFF"/>
                </a:solidFill>
                <a:latin typeface="DM Sans"/>
              </a:rPr>
              <a:t>We brief ourselves before we brief anyone else</a:t>
            </a:r>
          </a:p>
        </p:txBody>
      </p:sp>
      <p:sp>
        <p:nvSpPr>
          <p:cNvPr id="9" name="TextBox 8"/>
          <p:cNvSpPr txBox="1"/>
          <p:nvPr/>
        </p:nvSpPr>
        <p:spPr>
          <a:xfrm>
            <a:off x="6079388" y="822960"/>
            <a:ext cx="5880964" cy="1402080"/>
          </a:xfrm>
          <a:prstGeom prst="rect">
            <a:avLst/>
          </a:prstGeom>
          <a:noFill/>
        </p:spPr>
        <p:txBody>
          <a:bodyPr wrap="square">
            <a:spAutoFit/>
          </a:bodyPr>
          <a:lstStyle/>
          <a:p>
            <a:pPr algn="l"/>
            <a:r>
              <a:rPr sz="800" b="0" i="0">
                <a:solidFill>
                  <a:srgbClr val="666666"/>
                </a:solidFill>
                <a:latin typeface="DM Sans"/>
              </a:rPr>
              <a:t>One conversation about your business — not your creative spec. We understand the market, the competitive pressure, the internal politics. Then we translate it into a brief no freelancer would ever write.</a:t>
            </a:r>
          </a:p>
        </p:txBody>
      </p:sp>
      <p:sp>
        <p:nvSpPr>
          <p:cNvPr id="10" name="Rectangle 9"/>
          <p:cNvSpPr/>
          <p:nvPr/>
        </p:nvSpPr>
        <p:spPr>
          <a:xfrm>
            <a:off x="5759348" y="2362200"/>
            <a:ext cx="6246724" cy="6350"/>
          </a:xfrm>
          <a:prstGeom prst="rect">
            <a:avLst/>
          </a:prstGeom>
          <a:solidFill>
            <a:srgbClr val="1F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59348" y="2499360"/>
            <a:ext cx="274320" cy="365760"/>
          </a:xfrm>
          <a:prstGeom prst="rect">
            <a:avLst/>
          </a:prstGeom>
          <a:noFill/>
        </p:spPr>
        <p:txBody>
          <a:bodyPr wrap="square">
            <a:spAutoFit/>
          </a:bodyPr>
          <a:lstStyle/>
          <a:p>
            <a:pPr algn="l"/>
            <a:r>
              <a:rPr sz="1300" b="0" i="0">
                <a:solidFill>
                  <a:srgbClr val="CC1500"/>
                </a:solidFill>
                <a:latin typeface="DM Sans"/>
              </a:rPr>
              <a:t>→</a:t>
            </a:r>
          </a:p>
        </p:txBody>
      </p:sp>
      <p:sp>
        <p:nvSpPr>
          <p:cNvPr id="12" name="TextBox 11"/>
          <p:cNvSpPr txBox="1"/>
          <p:nvPr/>
        </p:nvSpPr>
        <p:spPr>
          <a:xfrm>
            <a:off x="6079388" y="2499360"/>
            <a:ext cx="5880964" cy="457200"/>
          </a:xfrm>
          <a:prstGeom prst="rect">
            <a:avLst/>
          </a:prstGeom>
          <a:noFill/>
        </p:spPr>
        <p:txBody>
          <a:bodyPr wrap="square">
            <a:spAutoFit/>
          </a:bodyPr>
          <a:lstStyle/>
          <a:p>
            <a:pPr algn="l"/>
            <a:r>
              <a:rPr sz="900" b="1" i="0">
                <a:solidFill>
                  <a:srgbClr val="FFFFFF"/>
                </a:solidFill>
                <a:latin typeface="DM Sans"/>
              </a:rPr>
              <a:t>Our roster is built on trust, not algorithms</a:t>
            </a:r>
          </a:p>
        </p:txBody>
      </p:sp>
      <p:sp>
        <p:nvSpPr>
          <p:cNvPr id="13" name="TextBox 12"/>
          <p:cNvSpPr txBox="1"/>
          <p:nvPr/>
        </p:nvSpPr>
        <p:spPr>
          <a:xfrm>
            <a:off x="6079388" y="2956560"/>
            <a:ext cx="5880964" cy="1402080"/>
          </a:xfrm>
          <a:prstGeom prst="rect">
            <a:avLst/>
          </a:prstGeom>
          <a:noFill/>
        </p:spPr>
        <p:txBody>
          <a:bodyPr wrap="square">
            <a:spAutoFit/>
          </a:bodyPr>
          <a:lstStyle/>
          <a:p>
            <a:pPr algn="l"/>
            <a:r>
              <a:rPr sz="800" b="0" i="0">
                <a:solidFill>
                  <a:srgbClr val="666666"/>
                </a:solidFill>
                <a:latin typeface="DM Sans"/>
              </a:rPr>
              <a:t>Every creative we place has worked with us before. We know how they behave under deadline pressure. We know what they're brilliant at and what they shouldn't touch. Platforms don't know that. We do.</a:t>
            </a:r>
          </a:p>
        </p:txBody>
      </p:sp>
      <p:sp>
        <p:nvSpPr>
          <p:cNvPr id="14" name="Rectangle 13"/>
          <p:cNvSpPr/>
          <p:nvPr/>
        </p:nvSpPr>
        <p:spPr>
          <a:xfrm>
            <a:off x="5759348" y="4495800"/>
            <a:ext cx="6246724" cy="6350"/>
          </a:xfrm>
          <a:prstGeom prst="rect">
            <a:avLst/>
          </a:prstGeom>
          <a:solidFill>
            <a:srgbClr val="1F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759348" y="4632960"/>
            <a:ext cx="274320" cy="365760"/>
          </a:xfrm>
          <a:prstGeom prst="rect">
            <a:avLst/>
          </a:prstGeom>
          <a:noFill/>
        </p:spPr>
        <p:txBody>
          <a:bodyPr wrap="square">
            <a:spAutoFit/>
          </a:bodyPr>
          <a:lstStyle/>
          <a:p>
            <a:pPr algn="l"/>
            <a:r>
              <a:rPr sz="1300" b="0" i="0">
                <a:solidFill>
                  <a:srgbClr val="CC1500"/>
                </a:solidFill>
                <a:latin typeface="DM Sans"/>
              </a:rPr>
              <a:t>→</a:t>
            </a:r>
          </a:p>
        </p:txBody>
      </p:sp>
      <p:sp>
        <p:nvSpPr>
          <p:cNvPr id="16" name="TextBox 15"/>
          <p:cNvSpPr txBox="1"/>
          <p:nvPr/>
        </p:nvSpPr>
        <p:spPr>
          <a:xfrm>
            <a:off x="6079388" y="4632960"/>
            <a:ext cx="5880964" cy="457200"/>
          </a:xfrm>
          <a:prstGeom prst="rect">
            <a:avLst/>
          </a:prstGeom>
          <a:noFill/>
        </p:spPr>
        <p:txBody>
          <a:bodyPr wrap="square">
            <a:spAutoFit/>
          </a:bodyPr>
          <a:lstStyle/>
          <a:p>
            <a:pPr algn="l"/>
            <a:r>
              <a:rPr sz="900" b="1" i="0">
                <a:solidFill>
                  <a:srgbClr val="FFFFFF"/>
                </a:solidFill>
                <a:latin typeface="DM Sans"/>
              </a:rPr>
              <a:t>We stay in until it ships</a:t>
            </a:r>
          </a:p>
        </p:txBody>
      </p:sp>
      <p:sp>
        <p:nvSpPr>
          <p:cNvPr id="17" name="TextBox 16"/>
          <p:cNvSpPr txBox="1"/>
          <p:nvPr/>
        </p:nvSpPr>
        <p:spPr>
          <a:xfrm>
            <a:off x="6079388" y="5090160"/>
            <a:ext cx="5880964" cy="1402080"/>
          </a:xfrm>
          <a:prstGeom prst="rect">
            <a:avLst/>
          </a:prstGeom>
          <a:noFill/>
        </p:spPr>
        <p:txBody>
          <a:bodyPr wrap="square">
            <a:spAutoFit/>
          </a:bodyPr>
          <a:lstStyle/>
          <a:p>
            <a:pPr algn="l"/>
            <a:r>
              <a:rPr sz="800" b="0" i="0">
                <a:solidFill>
                  <a:srgbClr val="666666"/>
                </a:solidFill>
                <a:latin typeface="DM Sans"/>
              </a:rPr>
              <a:t>We don't disappear after the match. We're in the thread, on the call, accountable for the outcome alongside the talent. Your brief is our brief until the final file lands.</a:t>
            </a:r>
          </a:p>
        </p:txBody>
      </p:sp>
      <p:sp>
        <p:nvSpPr>
          <p:cNvPr id="18" name="TextBox 17"/>
          <p:cNvSpPr txBox="1"/>
          <p:nvPr/>
        </p:nvSpPr>
        <p:spPr>
          <a:xfrm>
            <a:off x="11274552" y="6583680"/>
            <a:ext cx="731520" cy="228600"/>
          </a:xfrm>
          <a:prstGeom prst="rect">
            <a:avLst/>
          </a:prstGeom>
          <a:noFill/>
        </p:spPr>
        <p:txBody>
          <a:bodyPr wrap="square">
            <a:spAutoFit/>
          </a:bodyPr>
          <a:lstStyle/>
          <a:p>
            <a:pPr algn="r"/>
            <a:r>
              <a:rPr sz="700" b="0" i="0">
                <a:solidFill>
                  <a:srgbClr val="555555"/>
                </a:solidFill>
                <a:latin typeface="DM Sans"/>
              </a:rPr>
              <a:t>03 / 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502920"/>
            <a:ext cx="5637276" cy="365760"/>
          </a:xfrm>
          <a:prstGeom prst="rect">
            <a:avLst/>
          </a:prstGeom>
          <a:noFill/>
        </p:spPr>
        <p:txBody>
          <a:bodyPr wrap="square">
            <a:spAutoFit/>
          </a:bodyPr>
          <a:lstStyle/>
          <a:p>
            <a:pPr algn="l"/>
            <a:r>
              <a:rPr sz="750" b="1" i="0">
                <a:solidFill>
                  <a:srgbClr val="CC1500"/>
                </a:solidFill>
                <a:latin typeface="DM Sans"/>
              </a:rPr>
              <a:t>WHO WE SERVE</a:t>
            </a:r>
          </a:p>
        </p:txBody>
      </p:sp>
      <p:sp>
        <p:nvSpPr>
          <p:cNvPr id="4" name="TextBox 3"/>
          <p:cNvSpPr txBox="1"/>
          <p:nvPr/>
        </p:nvSpPr>
        <p:spPr>
          <a:xfrm>
            <a:off x="365760" y="914400"/>
            <a:ext cx="5545836" cy="2011680"/>
          </a:xfrm>
          <a:prstGeom prst="rect">
            <a:avLst/>
          </a:prstGeom>
          <a:noFill/>
        </p:spPr>
        <p:txBody>
          <a:bodyPr wrap="square">
            <a:spAutoFit/>
          </a:bodyPr>
          <a:lstStyle/>
          <a:p>
            <a:pPr algn="l"/>
            <a:r>
              <a:rPr sz="2200" b="0" i="0">
                <a:solidFill>
                  <a:srgbClr val="222222"/>
                </a:solidFill>
                <a:latin typeface="Georgia"/>
              </a:rPr>
              <a:t>Enterprise teams that can't afford to get creative wrong.</a:t>
            </a:r>
          </a:p>
        </p:txBody>
      </p:sp>
      <p:sp>
        <p:nvSpPr>
          <p:cNvPr id="5" name="TextBox 4"/>
          <p:cNvSpPr txBox="1"/>
          <p:nvPr/>
        </p:nvSpPr>
        <p:spPr>
          <a:xfrm>
            <a:off x="365760" y="3108960"/>
            <a:ext cx="5545836" cy="2286000"/>
          </a:xfrm>
          <a:prstGeom prst="rect">
            <a:avLst/>
          </a:prstGeom>
          <a:noFill/>
        </p:spPr>
        <p:txBody>
          <a:bodyPr wrap="square">
            <a:spAutoFit/>
          </a:bodyPr>
          <a:lstStyle/>
          <a:p>
            <a:pPr algn="l"/>
            <a:r>
              <a:rPr sz="850" b="0" i="0">
                <a:solidFill>
                  <a:srgbClr val="666666"/>
                </a:solidFill>
                <a:latin typeface="DM Sans"/>
              </a:rPr>
              <a:t>The Nigerian market is unforgiving. Consumers are sophisticated, competition is brutal, and attention is expensive. The brands that win are the ones where the business strategy and the creative execution are in the same conversation.</a:t>
            </a:r>
          </a:p>
        </p:txBody>
      </p:sp>
      <p:sp>
        <p:nvSpPr>
          <p:cNvPr id="6" name="Rectangle 5"/>
          <p:cNvSpPr/>
          <p:nvPr/>
        </p:nvSpPr>
        <p:spPr>
          <a:xfrm>
            <a:off x="6094476" y="0"/>
            <a:ext cx="3047238" cy="3429000"/>
          </a:xfrm>
          <a:prstGeom prst="rect">
            <a:avLst/>
          </a:prstGeom>
          <a:solidFill>
            <a:srgbClr val="F5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38794" y="45720"/>
            <a:ext cx="502920" cy="822960"/>
          </a:xfrm>
          <a:prstGeom prst="rect">
            <a:avLst/>
          </a:prstGeom>
          <a:noFill/>
        </p:spPr>
        <p:txBody>
          <a:bodyPr wrap="square">
            <a:spAutoFit/>
          </a:bodyPr>
          <a:lstStyle/>
          <a:p>
            <a:pPr algn="r"/>
            <a:r>
              <a:rPr sz="4400" b="1" i="0">
                <a:solidFill>
                  <a:srgbClr val="E8DFD0"/>
                </a:solidFill>
                <a:latin typeface="Arial Black"/>
              </a:rPr>
              <a:t>A</a:t>
            </a:r>
          </a:p>
        </p:txBody>
      </p:sp>
      <p:sp>
        <p:nvSpPr>
          <p:cNvPr id="8" name="TextBox 7"/>
          <p:cNvSpPr txBox="1"/>
          <p:nvPr/>
        </p:nvSpPr>
        <p:spPr>
          <a:xfrm>
            <a:off x="6277356" y="182880"/>
            <a:ext cx="2727198" cy="502920"/>
          </a:xfrm>
          <a:prstGeom prst="rect">
            <a:avLst/>
          </a:prstGeom>
          <a:noFill/>
        </p:spPr>
        <p:txBody>
          <a:bodyPr wrap="square">
            <a:spAutoFit/>
          </a:bodyPr>
          <a:lstStyle/>
          <a:p>
            <a:pPr algn="l"/>
            <a:r>
              <a:rPr sz="750" b="1" i="0">
                <a:solidFill>
                  <a:srgbClr val="222222"/>
                </a:solidFill>
                <a:latin typeface="DM Sans"/>
              </a:rPr>
              <a:t>CMOS &amp; MARKETING DIRECTORS</a:t>
            </a:r>
          </a:p>
        </p:txBody>
      </p:sp>
      <p:sp>
        <p:nvSpPr>
          <p:cNvPr id="9" name="TextBox 8"/>
          <p:cNvSpPr txBox="1"/>
          <p:nvPr/>
        </p:nvSpPr>
        <p:spPr>
          <a:xfrm>
            <a:off x="6277356" y="777240"/>
            <a:ext cx="2727198" cy="2423160"/>
          </a:xfrm>
          <a:prstGeom prst="rect">
            <a:avLst/>
          </a:prstGeom>
          <a:noFill/>
        </p:spPr>
        <p:txBody>
          <a:bodyPr wrap="square">
            <a:spAutoFit/>
          </a:bodyPr>
          <a:lstStyle/>
          <a:p>
            <a:pPr algn="l"/>
            <a:r>
              <a:rPr sz="750" b="0" i="0">
                <a:solidFill>
                  <a:srgbClr val="666666"/>
                </a:solidFill>
                <a:latin typeface="DM Sans"/>
              </a:rPr>
              <a:t>Campaign concepting, brand refresh, content at speed — without losing control of the message or the money.</a:t>
            </a:r>
          </a:p>
        </p:txBody>
      </p:sp>
      <p:sp>
        <p:nvSpPr>
          <p:cNvPr id="10" name="Rectangle 9"/>
          <p:cNvSpPr/>
          <p:nvPr/>
        </p:nvSpPr>
        <p:spPr>
          <a:xfrm>
            <a:off x="9141714" y="0"/>
            <a:ext cx="3047238" cy="3429000"/>
          </a:xfrm>
          <a:prstGeom prst="rect">
            <a:avLst/>
          </a:prstGeom>
          <a:solidFill>
            <a:srgbClr val="EEE7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686032" y="45720"/>
            <a:ext cx="502920" cy="822960"/>
          </a:xfrm>
          <a:prstGeom prst="rect">
            <a:avLst/>
          </a:prstGeom>
          <a:noFill/>
        </p:spPr>
        <p:txBody>
          <a:bodyPr wrap="square">
            <a:spAutoFit/>
          </a:bodyPr>
          <a:lstStyle/>
          <a:p>
            <a:pPr algn="r"/>
            <a:r>
              <a:rPr sz="4400" b="1" i="0">
                <a:solidFill>
                  <a:srgbClr val="E8DFD0"/>
                </a:solidFill>
                <a:latin typeface="Arial Black"/>
              </a:rPr>
              <a:t>B</a:t>
            </a:r>
          </a:p>
        </p:txBody>
      </p:sp>
      <p:sp>
        <p:nvSpPr>
          <p:cNvPr id="12" name="TextBox 11"/>
          <p:cNvSpPr txBox="1"/>
          <p:nvPr/>
        </p:nvSpPr>
        <p:spPr>
          <a:xfrm>
            <a:off x="9324594" y="182880"/>
            <a:ext cx="2727198" cy="502920"/>
          </a:xfrm>
          <a:prstGeom prst="rect">
            <a:avLst/>
          </a:prstGeom>
          <a:noFill/>
        </p:spPr>
        <p:txBody>
          <a:bodyPr wrap="square">
            <a:spAutoFit/>
          </a:bodyPr>
          <a:lstStyle/>
          <a:p>
            <a:pPr algn="l"/>
            <a:r>
              <a:rPr sz="750" b="1" i="0">
                <a:solidFill>
                  <a:srgbClr val="222222"/>
                </a:solidFill>
                <a:latin typeface="DM Sans"/>
              </a:rPr>
              <a:t>STRATEGY &amp; INNOVATION TEAMS</a:t>
            </a:r>
          </a:p>
        </p:txBody>
      </p:sp>
      <p:sp>
        <p:nvSpPr>
          <p:cNvPr id="13" name="TextBox 12"/>
          <p:cNvSpPr txBox="1"/>
          <p:nvPr/>
        </p:nvSpPr>
        <p:spPr>
          <a:xfrm>
            <a:off x="9324594" y="777240"/>
            <a:ext cx="2727198" cy="2423160"/>
          </a:xfrm>
          <a:prstGeom prst="rect">
            <a:avLst/>
          </a:prstGeom>
          <a:noFill/>
        </p:spPr>
        <p:txBody>
          <a:bodyPr wrap="square">
            <a:spAutoFit/>
          </a:bodyPr>
          <a:lstStyle/>
          <a:p>
            <a:pPr algn="l"/>
            <a:r>
              <a:rPr sz="750" b="0" i="0">
                <a:solidFill>
                  <a:srgbClr val="666666"/>
                </a:solidFill>
                <a:latin typeface="DM Sans"/>
              </a:rPr>
              <a:t>Board-ready visual storytelling, pitch decks, and communication design that makes the numbers legible.</a:t>
            </a:r>
          </a:p>
        </p:txBody>
      </p:sp>
      <p:sp>
        <p:nvSpPr>
          <p:cNvPr id="14" name="Rectangle 13"/>
          <p:cNvSpPr/>
          <p:nvPr/>
        </p:nvSpPr>
        <p:spPr>
          <a:xfrm>
            <a:off x="6094476" y="3429000"/>
            <a:ext cx="3047238" cy="3429000"/>
          </a:xfrm>
          <a:prstGeom prst="rect">
            <a:avLst/>
          </a:prstGeom>
          <a:solidFill>
            <a:srgbClr val="EEE7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38794" y="3474720"/>
            <a:ext cx="502920" cy="822960"/>
          </a:xfrm>
          <a:prstGeom prst="rect">
            <a:avLst/>
          </a:prstGeom>
          <a:noFill/>
        </p:spPr>
        <p:txBody>
          <a:bodyPr wrap="square">
            <a:spAutoFit/>
          </a:bodyPr>
          <a:lstStyle/>
          <a:p>
            <a:pPr algn="r"/>
            <a:r>
              <a:rPr sz="4400" b="1" i="0">
                <a:solidFill>
                  <a:srgbClr val="E8DFD0"/>
                </a:solidFill>
                <a:latin typeface="Arial Black"/>
              </a:rPr>
              <a:t>C</a:t>
            </a:r>
          </a:p>
        </p:txBody>
      </p:sp>
      <p:sp>
        <p:nvSpPr>
          <p:cNvPr id="16" name="TextBox 15"/>
          <p:cNvSpPr txBox="1"/>
          <p:nvPr/>
        </p:nvSpPr>
        <p:spPr>
          <a:xfrm>
            <a:off x="6277356" y="3611880"/>
            <a:ext cx="2727198" cy="502920"/>
          </a:xfrm>
          <a:prstGeom prst="rect">
            <a:avLst/>
          </a:prstGeom>
          <a:noFill/>
        </p:spPr>
        <p:txBody>
          <a:bodyPr wrap="square">
            <a:spAutoFit/>
          </a:bodyPr>
          <a:lstStyle/>
          <a:p>
            <a:pPr algn="l"/>
            <a:r>
              <a:rPr sz="750" b="1" i="0">
                <a:solidFill>
                  <a:srgbClr val="222222"/>
                </a:solidFill>
                <a:latin typeface="DM Sans"/>
              </a:rPr>
              <a:t>HR &amp; INTERNAL COMMS</a:t>
            </a:r>
          </a:p>
        </p:txBody>
      </p:sp>
      <p:sp>
        <p:nvSpPr>
          <p:cNvPr id="17" name="TextBox 16"/>
          <p:cNvSpPr txBox="1"/>
          <p:nvPr/>
        </p:nvSpPr>
        <p:spPr>
          <a:xfrm>
            <a:off x="6277356" y="4206240"/>
            <a:ext cx="2727198" cy="2423160"/>
          </a:xfrm>
          <a:prstGeom prst="rect">
            <a:avLst/>
          </a:prstGeom>
          <a:noFill/>
        </p:spPr>
        <p:txBody>
          <a:bodyPr wrap="square">
            <a:spAutoFit/>
          </a:bodyPr>
          <a:lstStyle/>
          <a:p>
            <a:pPr algn="l"/>
            <a:r>
              <a:rPr sz="750" b="0" i="0">
                <a:solidFill>
                  <a:srgbClr val="666666"/>
                </a:solidFill>
                <a:latin typeface="DM Sans"/>
              </a:rPr>
              <a:t>Employer branding and internal campaigns for teams that know their people are also watching the brand.</a:t>
            </a:r>
          </a:p>
        </p:txBody>
      </p:sp>
      <p:sp>
        <p:nvSpPr>
          <p:cNvPr id="18" name="Rectangle 17"/>
          <p:cNvSpPr/>
          <p:nvPr/>
        </p:nvSpPr>
        <p:spPr>
          <a:xfrm>
            <a:off x="9141714" y="3429000"/>
            <a:ext cx="3047238" cy="3429000"/>
          </a:xfrm>
          <a:prstGeom prst="rect">
            <a:avLst/>
          </a:prstGeom>
          <a:solidFill>
            <a:srgbClr val="F5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686032" y="3474720"/>
            <a:ext cx="502920" cy="822960"/>
          </a:xfrm>
          <a:prstGeom prst="rect">
            <a:avLst/>
          </a:prstGeom>
          <a:noFill/>
        </p:spPr>
        <p:txBody>
          <a:bodyPr wrap="square">
            <a:spAutoFit/>
          </a:bodyPr>
          <a:lstStyle/>
          <a:p>
            <a:pPr algn="r"/>
            <a:r>
              <a:rPr sz="4400" b="1" i="0">
                <a:solidFill>
                  <a:srgbClr val="E8DFD0"/>
                </a:solidFill>
                <a:latin typeface="Arial Black"/>
              </a:rPr>
              <a:t>D</a:t>
            </a:r>
          </a:p>
        </p:txBody>
      </p:sp>
      <p:sp>
        <p:nvSpPr>
          <p:cNvPr id="20" name="TextBox 19"/>
          <p:cNvSpPr txBox="1"/>
          <p:nvPr/>
        </p:nvSpPr>
        <p:spPr>
          <a:xfrm>
            <a:off x="9324594" y="3611880"/>
            <a:ext cx="2727198" cy="502920"/>
          </a:xfrm>
          <a:prstGeom prst="rect">
            <a:avLst/>
          </a:prstGeom>
          <a:noFill/>
        </p:spPr>
        <p:txBody>
          <a:bodyPr wrap="square">
            <a:spAutoFit/>
          </a:bodyPr>
          <a:lstStyle/>
          <a:p>
            <a:pPr algn="l"/>
            <a:r>
              <a:rPr sz="750" b="1" i="0">
                <a:solidFill>
                  <a:srgbClr val="222222"/>
                </a:solidFill>
                <a:latin typeface="DM Sans"/>
              </a:rPr>
              <a:t>PRODUCT &amp; GTM TEAMS</a:t>
            </a:r>
          </a:p>
        </p:txBody>
      </p:sp>
      <p:sp>
        <p:nvSpPr>
          <p:cNvPr id="21" name="TextBox 20"/>
          <p:cNvSpPr txBox="1"/>
          <p:nvPr/>
        </p:nvSpPr>
        <p:spPr>
          <a:xfrm>
            <a:off x="9324594" y="4206240"/>
            <a:ext cx="2727198" cy="2423160"/>
          </a:xfrm>
          <a:prstGeom prst="rect">
            <a:avLst/>
          </a:prstGeom>
          <a:noFill/>
        </p:spPr>
        <p:txBody>
          <a:bodyPr wrap="square">
            <a:spAutoFit/>
          </a:bodyPr>
          <a:lstStyle/>
          <a:p>
            <a:pPr algn="l"/>
            <a:r>
              <a:rPr sz="750" b="0" i="0">
                <a:solidFill>
                  <a:srgbClr val="666666"/>
                </a:solidFill>
                <a:latin typeface="DM Sans"/>
              </a:rPr>
              <a:t>Launch assets, UX copy, and creative direction calibrated to a Nigerian consumer's expectations — not a template's.</a:t>
            </a:r>
          </a:p>
        </p:txBody>
      </p:sp>
      <p:sp>
        <p:nvSpPr>
          <p:cNvPr id="22" name="TextBox 21"/>
          <p:cNvSpPr txBox="1"/>
          <p:nvPr/>
        </p:nvSpPr>
        <p:spPr>
          <a:xfrm>
            <a:off x="11274552" y="6583680"/>
            <a:ext cx="731520" cy="228600"/>
          </a:xfrm>
          <a:prstGeom prst="rect">
            <a:avLst/>
          </a:prstGeom>
          <a:noFill/>
        </p:spPr>
        <p:txBody>
          <a:bodyPr wrap="square">
            <a:spAutoFit/>
          </a:bodyPr>
          <a:lstStyle/>
          <a:p>
            <a:pPr algn="r"/>
            <a:r>
              <a:rPr sz="700" b="0" i="0">
                <a:solidFill>
                  <a:srgbClr val="999999"/>
                </a:solidFill>
                <a:latin typeface="DM Sans"/>
              </a:rPr>
              <a:t>04 / 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E0E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4114800" cy="2743200"/>
          </a:xfrm>
          <a:prstGeom prst="rect">
            <a:avLst/>
          </a:prstGeom>
          <a:noFill/>
        </p:spPr>
        <p:txBody>
          <a:bodyPr wrap="square">
            <a:spAutoFit/>
          </a:bodyPr>
          <a:lstStyle/>
          <a:p>
            <a:pPr algn="l"/>
            <a:r>
              <a:rPr sz="5200" b="1" i="0">
                <a:solidFill>
                  <a:srgbClr val="FFFFFF"/>
                </a:solidFill>
                <a:latin typeface="Arial Black"/>
              </a:rPr>
              <a:t>THE
TALENT.</a:t>
            </a:r>
          </a:p>
        </p:txBody>
      </p:sp>
      <p:sp>
        <p:nvSpPr>
          <p:cNvPr id="4" name="TextBox 3"/>
          <p:cNvSpPr txBox="1"/>
          <p:nvPr/>
        </p:nvSpPr>
        <p:spPr>
          <a:xfrm>
            <a:off x="457200" y="1645920"/>
            <a:ext cx="4114800" cy="1097280"/>
          </a:xfrm>
          <a:prstGeom prst="rect">
            <a:avLst/>
          </a:prstGeom>
          <a:noFill/>
        </p:spPr>
        <p:txBody>
          <a:bodyPr wrap="square">
            <a:spAutoFit/>
          </a:bodyPr>
          <a:lstStyle/>
          <a:p>
            <a:pPr algn="l"/>
            <a:r>
              <a:rPr sz="5200" b="1" i="0">
                <a:solidFill>
                  <a:srgbClr val="CC1500"/>
                </a:solidFill>
                <a:latin typeface="Arial Black"/>
              </a:rPr>
              <a:t>TALENT.</a:t>
            </a:r>
          </a:p>
        </p:txBody>
      </p:sp>
      <p:sp>
        <p:nvSpPr>
          <p:cNvPr id="5" name="TextBox 4"/>
          <p:cNvSpPr txBox="1"/>
          <p:nvPr/>
        </p:nvSpPr>
        <p:spPr>
          <a:xfrm>
            <a:off x="6400800" y="457200"/>
            <a:ext cx="5303520" cy="4114800"/>
          </a:xfrm>
          <a:prstGeom prst="rect">
            <a:avLst/>
          </a:prstGeom>
          <a:noFill/>
        </p:spPr>
        <p:txBody>
          <a:bodyPr wrap="square">
            <a:spAutoFit/>
          </a:bodyPr>
          <a:lstStyle/>
          <a:p>
            <a:pPr algn="l"/>
            <a:r>
              <a:rPr sz="900" b="0" i="0">
                <a:solidFill>
                  <a:srgbClr val="666666"/>
                </a:solidFill>
                <a:latin typeface="DM Sans"/>
              </a:rPr>
              <a:t>A curated roster. Not a marketplace.
Nigeria has extraordinary creative talent. The problem has never been scarcity — it's discoverability, accountability, and fit. We've spent years finding the people who consistently deliver under real conditions: tight timelines, complex stakeholders, and high-stakes briefs. You get their best work because they trust the environment we've built around them.</a:t>
            </a:r>
          </a:p>
        </p:txBody>
      </p:sp>
      <p:sp>
        <p:nvSpPr>
          <p:cNvPr id="6" name="Rectangle 5"/>
          <p:cNvSpPr/>
          <p:nvPr/>
        </p:nvSpPr>
        <p:spPr>
          <a:xfrm>
            <a:off x="457200" y="5212080"/>
            <a:ext cx="1687068" cy="320040"/>
          </a:xfrm>
          <a:prstGeom prst="rect">
            <a:avLst/>
          </a:prstGeom>
          <a:solidFill>
            <a:srgbClr val="CC1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5257800"/>
            <a:ext cx="1549908" cy="274320"/>
          </a:xfrm>
          <a:prstGeom prst="rect">
            <a:avLst/>
          </a:prstGeom>
          <a:noFill/>
        </p:spPr>
        <p:txBody>
          <a:bodyPr wrap="square">
            <a:spAutoFit/>
          </a:bodyPr>
          <a:lstStyle/>
          <a:p>
            <a:pPr algn="l"/>
            <a:r>
              <a:rPr sz="650" b="1" i="0">
                <a:solidFill>
                  <a:srgbClr val="FFFFFF"/>
                </a:solidFill>
                <a:latin typeface="DM Sans"/>
              </a:rPr>
              <a:t>BRAND STRATEGISTS</a:t>
            </a:r>
          </a:p>
        </p:txBody>
      </p:sp>
      <p:sp>
        <p:nvSpPr>
          <p:cNvPr id="8" name="Rectangle 7"/>
          <p:cNvSpPr/>
          <p:nvPr/>
        </p:nvSpPr>
        <p:spPr>
          <a:xfrm>
            <a:off x="2253996" y="5212080"/>
            <a:ext cx="1764792" cy="3200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63724" y="5257800"/>
            <a:ext cx="1627632" cy="274320"/>
          </a:xfrm>
          <a:prstGeom prst="rect">
            <a:avLst/>
          </a:prstGeom>
          <a:noFill/>
        </p:spPr>
        <p:txBody>
          <a:bodyPr wrap="square">
            <a:spAutoFit/>
          </a:bodyPr>
          <a:lstStyle/>
          <a:p>
            <a:pPr algn="l"/>
            <a:r>
              <a:rPr sz="650" b="1" i="0">
                <a:solidFill>
                  <a:srgbClr val="888888"/>
                </a:solidFill>
                <a:latin typeface="DM Sans"/>
              </a:rPr>
              <a:t>CREATIVE DIRECTORS</a:t>
            </a:r>
          </a:p>
        </p:txBody>
      </p:sp>
      <p:sp>
        <p:nvSpPr>
          <p:cNvPr id="10" name="Rectangle 9"/>
          <p:cNvSpPr/>
          <p:nvPr/>
        </p:nvSpPr>
        <p:spPr>
          <a:xfrm>
            <a:off x="4128516" y="5212080"/>
            <a:ext cx="1220724" cy="3200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38244" y="5257800"/>
            <a:ext cx="1083564" cy="274320"/>
          </a:xfrm>
          <a:prstGeom prst="rect">
            <a:avLst/>
          </a:prstGeom>
          <a:noFill/>
        </p:spPr>
        <p:txBody>
          <a:bodyPr wrap="square">
            <a:spAutoFit/>
          </a:bodyPr>
          <a:lstStyle/>
          <a:p>
            <a:pPr algn="l"/>
            <a:r>
              <a:rPr sz="650" b="1" i="0">
                <a:solidFill>
                  <a:srgbClr val="888888"/>
                </a:solidFill>
                <a:latin typeface="DM Sans"/>
              </a:rPr>
              <a:t>COPYWRITERS</a:t>
            </a:r>
          </a:p>
        </p:txBody>
      </p:sp>
      <p:sp>
        <p:nvSpPr>
          <p:cNvPr id="12" name="Rectangle 11"/>
          <p:cNvSpPr/>
          <p:nvPr/>
        </p:nvSpPr>
        <p:spPr>
          <a:xfrm>
            <a:off x="5458968" y="5212080"/>
            <a:ext cx="2231136" cy="320040"/>
          </a:xfrm>
          <a:prstGeom prst="rect">
            <a:avLst/>
          </a:prstGeom>
          <a:solidFill>
            <a:srgbClr val="CC1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568696" y="5257800"/>
            <a:ext cx="2093976" cy="274320"/>
          </a:xfrm>
          <a:prstGeom prst="rect">
            <a:avLst/>
          </a:prstGeom>
          <a:noFill/>
        </p:spPr>
        <p:txBody>
          <a:bodyPr wrap="square">
            <a:spAutoFit/>
          </a:bodyPr>
          <a:lstStyle/>
          <a:p>
            <a:pPr algn="l"/>
            <a:r>
              <a:rPr sz="650" b="1" i="0">
                <a:solidFill>
                  <a:srgbClr val="FFFFFF"/>
                </a:solidFill>
                <a:latin typeface="DM Sans"/>
              </a:rPr>
              <a:t>MOTION &amp; VIDEO PRODUCERS</a:t>
            </a:r>
          </a:p>
        </p:txBody>
      </p:sp>
      <p:sp>
        <p:nvSpPr>
          <p:cNvPr id="14" name="Rectangle 13"/>
          <p:cNvSpPr/>
          <p:nvPr/>
        </p:nvSpPr>
        <p:spPr>
          <a:xfrm>
            <a:off x="7799832" y="5212080"/>
            <a:ext cx="1531620" cy="3200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09560" y="5257800"/>
            <a:ext cx="1394460" cy="274320"/>
          </a:xfrm>
          <a:prstGeom prst="rect">
            <a:avLst/>
          </a:prstGeom>
          <a:noFill/>
        </p:spPr>
        <p:txBody>
          <a:bodyPr wrap="square">
            <a:spAutoFit/>
          </a:bodyPr>
          <a:lstStyle/>
          <a:p>
            <a:pPr algn="l"/>
            <a:r>
              <a:rPr sz="650" b="1" i="0">
                <a:solidFill>
                  <a:srgbClr val="888888"/>
                </a:solidFill>
                <a:latin typeface="DM Sans"/>
              </a:rPr>
              <a:t>UI/UX DESIGNERS</a:t>
            </a:r>
          </a:p>
        </p:txBody>
      </p:sp>
      <p:sp>
        <p:nvSpPr>
          <p:cNvPr id="16" name="Rectangle 15"/>
          <p:cNvSpPr/>
          <p:nvPr/>
        </p:nvSpPr>
        <p:spPr>
          <a:xfrm>
            <a:off x="9441180" y="5212080"/>
            <a:ext cx="1609344" cy="3200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550908" y="5257800"/>
            <a:ext cx="1472184" cy="274320"/>
          </a:xfrm>
          <a:prstGeom prst="rect">
            <a:avLst/>
          </a:prstGeom>
          <a:noFill/>
        </p:spPr>
        <p:txBody>
          <a:bodyPr wrap="square">
            <a:spAutoFit/>
          </a:bodyPr>
          <a:lstStyle/>
          <a:p>
            <a:pPr algn="l"/>
            <a:r>
              <a:rPr sz="650" b="1" i="0">
                <a:solidFill>
                  <a:srgbClr val="888888"/>
                </a:solidFill>
                <a:latin typeface="DM Sans"/>
              </a:rPr>
              <a:t>VISUAL DESIGNERS</a:t>
            </a:r>
          </a:p>
        </p:txBody>
      </p:sp>
      <p:sp>
        <p:nvSpPr>
          <p:cNvPr id="18" name="Rectangle 17"/>
          <p:cNvSpPr/>
          <p:nvPr/>
        </p:nvSpPr>
        <p:spPr>
          <a:xfrm>
            <a:off x="457200" y="5669280"/>
            <a:ext cx="2075688" cy="3200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5715000"/>
            <a:ext cx="1938528" cy="274320"/>
          </a:xfrm>
          <a:prstGeom prst="rect">
            <a:avLst/>
          </a:prstGeom>
          <a:noFill/>
        </p:spPr>
        <p:txBody>
          <a:bodyPr wrap="square">
            <a:spAutoFit/>
          </a:bodyPr>
          <a:lstStyle/>
          <a:p>
            <a:pPr algn="l"/>
            <a:r>
              <a:rPr sz="650" b="1" i="0">
                <a:solidFill>
                  <a:srgbClr val="888888"/>
                </a:solidFill>
                <a:latin typeface="DM Sans"/>
              </a:rPr>
              <a:t>PITCH DECK SPECIALISTS</a:t>
            </a:r>
          </a:p>
        </p:txBody>
      </p:sp>
      <p:sp>
        <p:nvSpPr>
          <p:cNvPr id="20" name="Rectangle 19"/>
          <p:cNvSpPr/>
          <p:nvPr/>
        </p:nvSpPr>
        <p:spPr>
          <a:xfrm>
            <a:off x="2642616" y="5669280"/>
            <a:ext cx="1842516" cy="320040"/>
          </a:xfrm>
          <a:prstGeom prst="rect">
            <a:avLst/>
          </a:prstGeom>
          <a:solidFill>
            <a:srgbClr val="CC1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52344" y="5715000"/>
            <a:ext cx="1705356" cy="274320"/>
          </a:xfrm>
          <a:prstGeom prst="rect">
            <a:avLst/>
          </a:prstGeom>
          <a:noFill/>
        </p:spPr>
        <p:txBody>
          <a:bodyPr wrap="square">
            <a:spAutoFit/>
          </a:bodyPr>
          <a:lstStyle/>
          <a:p>
            <a:pPr algn="l"/>
            <a:r>
              <a:rPr sz="650" b="1" i="0">
                <a:solidFill>
                  <a:srgbClr val="FFFFFF"/>
                </a:solidFill>
                <a:latin typeface="DM Sans"/>
              </a:rPr>
              <a:t>CAMPAIGN CONCEPTORS</a:t>
            </a:r>
          </a:p>
        </p:txBody>
      </p:sp>
      <p:sp>
        <p:nvSpPr>
          <p:cNvPr id="22" name="Rectangle 21"/>
          <p:cNvSpPr/>
          <p:nvPr/>
        </p:nvSpPr>
        <p:spPr>
          <a:xfrm>
            <a:off x="4594860" y="5669280"/>
            <a:ext cx="1376172" cy="3200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04588" y="5715000"/>
            <a:ext cx="1239012" cy="274320"/>
          </a:xfrm>
          <a:prstGeom prst="rect">
            <a:avLst/>
          </a:prstGeom>
          <a:noFill/>
        </p:spPr>
        <p:txBody>
          <a:bodyPr wrap="square">
            <a:spAutoFit/>
          </a:bodyPr>
          <a:lstStyle/>
          <a:p>
            <a:pPr algn="l"/>
            <a:r>
              <a:rPr sz="650" b="1" i="0">
                <a:solidFill>
                  <a:srgbClr val="888888"/>
                </a:solidFill>
                <a:latin typeface="DM Sans"/>
              </a:rPr>
              <a:t>PHOTOGRAPHERS</a:t>
            </a:r>
          </a:p>
        </p:txBody>
      </p:sp>
      <p:sp>
        <p:nvSpPr>
          <p:cNvPr id="24" name="Rectangle 23"/>
          <p:cNvSpPr/>
          <p:nvPr/>
        </p:nvSpPr>
        <p:spPr>
          <a:xfrm>
            <a:off x="6080760" y="5669280"/>
            <a:ext cx="1842516" cy="3200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90488" y="5715000"/>
            <a:ext cx="1705356" cy="274320"/>
          </a:xfrm>
          <a:prstGeom prst="rect">
            <a:avLst/>
          </a:prstGeom>
          <a:noFill/>
        </p:spPr>
        <p:txBody>
          <a:bodyPr wrap="square">
            <a:spAutoFit/>
          </a:bodyPr>
          <a:lstStyle/>
          <a:p>
            <a:pPr algn="l"/>
            <a:r>
              <a:rPr sz="650" b="1" i="0">
                <a:solidFill>
                  <a:srgbClr val="888888"/>
                </a:solidFill>
                <a:latin typeface="DM Sans"/>
              </a:rPr>
              <a:t>CONTENT STRATEGISTS</a:t>
            </a:r>
          </a:p>
        </p:txBody>
      </p:sp>
      <p:sp>
        <p:nvSpPr>
          <p:cNvPr id="26" name="TextBox 25"/>
          <p:cNvSpPr txBox="1"/>
          <p:nvPr/>
        </p:nvSpPr>
        <p:spPr>
          <a:xfrm>
            <a:off x="11274552" y="6583680"/>
            <a:ext cx="731520" cy="228600"/>
          </a:xfrm>
          <a:prstGeom prst="rect">
            <a:avLst/>
          </a:prstGeom>
          <a:noFill/>
        </p:spPr>
        <p:txBody>
          <a:bodyPr wrap="square">
            <a:spAutoFit/>
          </a:bodyPr>
          <a:lstStyle/>
          <a:p>
            <a:pPr algn="r"/>
            <a:r>
              <a:rPr sz="700" b="0" i="0">
                <a:solidFill>
                  <a:srgbClr val="555555"/>
                </a:solidFill>
                <a:latin typeface="DM Sans"/>
              </a:rPr>
              <a:t>05 / 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6400800" cy="685800"/>
          </a:xfrm>
          <a:prstGeom prst="rect">
            <a:avLst/>
          </a:prstGeom>
          <a:noFill/>
        </p:spPr>
        <p:txBody>
          <a:bodyPr wrap="square">
            <a:spAutoFit/>
          </a:bodyPr>
          <a:lstStyle/>
          <a:p>
            <a:pPr algn="l"/>
            <a:r>
              <a:rPr sz="2600" b="1" i="0">
                <a:solidFill>
                  <a:srgbClr val="FFFFFF"/>
                </a:solidFill>
                <a:latin typeface="Arial Black"/>
              </a:rPr>
              <a:t>How It Works</a:t>
            </a:r>
          </a:p>
        </p:txBody>
      </p:sp>
      <p:sp>
        <p:nvSpPr>
          <p:cNvPr id="5" name="TextBox 4"/>
          <p:cNvSpPr txBox="1"/>
          <p:nvPr/>
        </p:nvSpPr>
        <p:spPr>
          <a:xfrm>
            <a:off x="7772400" y="347472"/>
            <a:ext cx="3657600" cy="411480"/>
          </a:xfrm>
          <a:prstGeom prst="rect">
            <a:avLst/>
          </a:prstGeom>
          <a:noFill/>
        </p:spPr>
        <p:txBody>
          <a:bodyPr wrap="square">
            <a:spAutoFit/>
          </a:bodyPr>
          <a:lstStyle/>
          <a:p>
            <a:pPr algn="r"/>
            <a:r>
              <a:rPr sz="850" b="0" i="0">
                <a:solidFill>
                  <a:srgbClr val="CC1500"/>
                </a:solidFill>
                <a:latin typeface="DM Sans"/>
              </a:rPr>
              <a:t>48-hour turnaround on every match</a:t>
            </a:r>
          </a:p>
        </p:txBody>
      </p:sp>
      <p:sp>
        <p:nvSpPr>
          <p:cNvPr id="6" name="Rectangle 5"/>
          <p:cNvSpPr/>
          <p:nvPr/>
        </p:nvSpPr>
        <p:spPr>
          <a:xfrm>
            <a:off x="0" y="1005840"/>
            <a:ext cx="3047238" cy="5852160"/>
          </a:xfrm>
          <a:prstGeom prst="rect">
            <a:avLst/>
          </a:prstGeom>
          <a:solidFill>
            <a:srgbClr val="F5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2880" y="1280160"/>
            <a:ext cx="2772918" cy="777240"/>
          </a:xfrm>
          <a:prstGeom prst="rect">
            <a:avLst/>
          </a:prstGeom>
          <a:noFill/>
        </p:spPr>
        <p:txBody>
          <a:bodyPr wrap="square">
            <a:spAutoFit/>
          </a:bodyPr>
          <a:lstStyle/>
          <a:p>
            <a:pPr algn="l"/>
            <a:r>
              <a:rPr sz="3800" b="1" i="0">
                <a:solidFill>
                  <a:srgbClr val="CC1500"/>
                </a:solidFill>
                <a:latin typeface="Arial Black"/>
              </a:rPr>
              <a:t>1</a:t>
            </a:r>
          </a:p>
        </p:txBody>
      </p:sp>
      <p:sp>
        <p:nvSpPr>
          <p:cNvPr id="8" name="TextBox 7"/>
          <p:cNvSpPr txBox="1"/>
          <p:nvPr/>
        </p:nvSpPr>
        <p:spPr>
          <a:xfrm>
            <a:off x="182880" y="2103120"/>
            <a:ext cx="2772918" cy="411480"/>
          </a:xfrm>
          <a:prstGeom prst="rect">
            <a:avLst/>
          </a:prstGeom>
          <a:noFill/>
        </p:spPr>
        <p:txBody>
          <a:bodyPr wrap="square">
            <a:spAutoFit/>
          </a:bodyPr>
          <a:lstStyle/>
          <a:p>
            <a:pPr algn="l"/>
            <a:r>
              <a:rPr sz="850" b="1" i="0">
                <a:solidFill>
                  <a:srgbClr val="222222"/>
                </a:solidFill>
                <a:latin typeface="DM Sans"/>
              </a:rPr>
              <a:t>BRIEF US</a:t>
            </a:r>
          </a:p>
        </p:txBody>
      </p:sp>
      <p:sp>
        <p:nvSpPr>
          <p:cNvPr id="9" name="TextBox 8"/>
          <p:cNvSpPr txBox="1"/>
          <p:nvPr/>
        </p:nvSpPr>
        <p:spPr>
          <a:xfrm>
            <a:off x="182880" y="2560320"/>
            <a:ext cx="2727198" cy="3200400"/>
          </a:xfrm>
          <a:prstGeom prst="rect">
            <a:avLst/>
          </a:prstGeom>
          <a:noFill/>
        </p:spPr>
        <p:txBody>
          <a:bodyPr wrap="square">
            <a:spAutoFit/>
          </a:bodyPr>
          <a:lstStyle/>
          <a:p>
            <a:pPr algn="l"/>
            <a:r>
              <a:rPr sz="800" b="0" i="0">
                <a:solidFill>
                  <a:srgbClr val="666666"/>
                </a:solidFill>
                <a:latin typeface="DM Sans"/>
              </a:rPr>
              <a:t>One call or a short form. We want to understand the business challenge — not just the deliverable. What's at stake? What's failed before?</a:t>
            </a:r>
          </a:p>
        </p:txBody>
      </p:sp>
      <p:sp>
        <p:nvSpPr>
          <p:cNvPr id="10" name="TextBox 9"/>
          <p:cNvSpPr txBox="1"/>
          <p:nvPr/>
        </p:nvSpPr>
        <p:spPr>
          <a:xfrm>
            <a:off x="182880" y="6263640"/>
            <a:ext cx="2772918" cy="365760"/>
          </a:xfrm>
          <a:prstGeom prst="rect">
            <a:avLst/>
          </a:prstGeom>
          <a:noFill/>
        </p:spPr>
        <p:txBody>
          <a:bodyPr wrap="square">
            <a:spAutoFit/>
          </a:bodyPr>
          <a:lstStyle/>
          <a:p>
            <a:pPr algn="l"/>
            <a:r>
              <a:rPr sz="750" b="1" i="0">
                <a:solidFill>
                  <a:srgbClr val="CC1500"/>
                </a:solidFill>
                <a:latin typeface="DM Sans"/>
              </a:rPr>
              <a:t>Same day</a:t>
            </a:r>
          </a:p>
        </p:txBody>
      </p:sp>
      <p:sp>
        <p:nvSpPr>
          <p:cNvPr id="11" name="Rectangle 10"/>
          <p:cNvSpPr/>
          <p:nvPr/>
        </p:nvSpPr>
        <p:spPr>
          <a:xfrm>
            <a:off x="3047238" y="1005840"/>
            <a:ext cx="3047238" cy="5852160"/>
          </a:xfrm>
          <a:prstGeom prst="rect">
            <a:avLst/>
          </a:prstGeom>
          <a:solidFill>
            <a:srgbClr val="EEE7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30118" y="1280160"/>
            <a:ext cx="2772918" cy="777240"/>
          </a:xfrm>
          <a:prstGeom prst="rect">
            <a:avLst/>
          </a:prstGeom>
          <a:noFill/>
        </p:spPr>
        <p:txBody>
          <a:bodyPr wrap="square">
            <a:spAutoFit/>
          </a:bodyPr>
          <a:lstStyle/>
          <a:p>
            <a:pPr algn="l"/>
            <a:r>
              <a:rPr sz="3800" b="1" i="0">
                <a:solidFill>
                  <a:srgbClr val="CC1500"/>
                </a:solidFill>
                <a:latin typeface="Arial Black"/>
              </a:rPr>
              <a:t>2</a:t>
            </a:r>
          </a:p>
        </p:txBody>
      </p:sp>
      <p:sp>
        <p:nvSpPr>
          <p:cNvPr id="13" name="TextBox 12"/>
          <p:cNvSpPr txBox="1"/>
          <p:nvPr/>
        </p:nvSpPr>
        <p:spPr>
          <a:xfrm>
            <a:off x="3230118" y="2103120"/>
            <a:ext cx="2772918" cy="411480"/>
          </a:xfrm>
          <a:prstGeom prst="rect">
            <a:avLst/>
          </a:prstGeom>
          <a:noFill/>
        </p:spPr>
        <p:txBody>
          <a:bodyPr wrap="square">
            <a:spAutoFit/>
          </a:bodyPr>
          <a:lstStyle/>
          <a:p>
            <a:pPr algn="l"/>
            <a:r>
              <a:rPr sz="850" b="1" i="0">
                <a:solidFill>
                  <a:srgbClr val="222222"/>
                </a:solidFill>
                <a:latin typeface="DM Sans"/>
              </a:rPr>
              <a:t>WE MATCH</a:t>
            </a:r>
          </a:p>
        </p:txBody>
      </p:sp>
      <p:sp>
        <p:nvSpPr>
          <p:cNvPr id="14" name="TextBox 13"/>
          <p:cNvSpPr txBox="1"/>
          <p:nvPr/>
        </p:nvSpPr>
        <p:spPr>
          <a:xfrm>
            <a:off x="3230118" y="2560320"/>
            <a:ext cx="2727198" cy="3200400"/>
          </a:xfrm>
          <a:prstGeom prst="rect">
            <a:avLst/>
          </a:prstGeom>
          <a:noFill/>
        </p:spPr>
        <p:txBody>
          <a:bodyPr wrap="square">
            <a:spAutoFit/>
          </a:bodyPr>
          <a:lstStyle/>
          <a:p>
            <a:pPr algn="l"/>
            <a:r>
              <a:rPr sz="800" b="0" i="0">
                <a:solidFill>
                  <a:srgbClr val="666666"/>
                </a:solidFill>
                <a:latin typeface="DM Sans"/>
              </a:rPr>
              <a:t>2–3 curated options. Pre-briefed, pre-vetted, with a clear recommended approach. No shortlist of strangers — people we'd stake our name on.</a:t>
            </a:r>
          </a:p>
        </p:txBody>
      </p:sp>
      <p:sp>
        <p:nvSpPr>
          <p:cNvPr id="15" name="TextBox 14"/>
          <p:cNvSpPr txBox="1"/>
          <p:nvPr/>
        </p:nvSpPr>
        <p:spPr>
          <a:xfrm>
            <a:off x="3230118" y="6263640"/>
            <a:ext cx="2772918" cy="365760"/>
          </a:xfrm>
          <a:prstGeom prst="rect">
            <a:avLst/>
          </a:prstGeom>
          <a:noFill/>
        </p:spPr>
        <p:txBody>
          <a:bodyPr wrap="square">
            <a:spAutoFit/>
          </a:bodyPr>
          <a:lstStyle/>
          <a:p>
            <a:pPr algn="l"/>
            <a:r>
              <a:rPr sz="750" b="1" i="0">
                <a:solidFill>
                  <a:srgbClr val="CC1500"/>
                </a:solidFill>
                <a:latin typeface="DM Sans"/>
              </a:rPr>
              <a:t>Within 48 hours</a:t>
            </a:r>
          </a:p>
        </p:txBody>
      </p:sp>
      <p:sp>
        <p:nvSpPr>
          <p:cNvPr id="16" name="Rectangle 15"/>
          <p:cNvSpPr/>
          <p:nvPr/>
        </p:nvSpPr>
        <p:spPr>
          <a:xfrm>
            <a:off x="3047238" y="1005840"/>
            <a:ext cx="6350" cy="5852160"/>
          </a:xfrm>
          <a:prstGeom prst="rect">
            <a:avLst/>
          </a:prstGeom>
          <a:solidFill>
            <a:srgbClr val="E8DF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094476" y="1005840"/>
            <a:ext cx="3047238" cy="5852160"/>
          </a:xfrm>
          <a:prstGeom prst="rect">
            <a:avLst/>
          </a:prstGeom>
          <a:solidFill>
            <a:srgbClr val="F5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77356" y="1280160"/>
            <a:ext cx="2772918" cy="777240"/>
          </a:xfrm>
          <a:prstGeom prst="rect">
            <a:avLst/>
          </a:prstGeom>
          <a:noFill/>
        </p:spPr>
        <p:txBody>
          <a:bodyPr wrap="square">
            <a:spAutoFit/>
          </a:bodyPr>
          <a:lstStyle/>
          <a:p>
            <a:pPr algn="l"/>
            <a:r>
              <a:rPr sz="3800" b="1" i="0">
                <a:solidFill>
                  <a:srgbClr val="CC1500"/>
                </a:solidFill>
                <a:latin typeface="Arial Black"/>
              </a:rPr>
              <a:t>3</a:t>
            </a:r>
          </a:p>
        </p:txBody>
      </p:sp>
      <p:sp>
        <p:nvSpPr>
          <p:cNvPr id="19" name="TextBox 18"/>
          <p:cNvSpPr txBox="1"/>
          <p:nvPr/>
        </p:nvSpPr>
        <p:spPr>
          <a:xfrm>
            <a:off x="6277356" y="2103120"/>
            <a:ext cx="2772918" cy="411480"/>
          </a:xfrm>
          <a:prstGeom prst="rect">
            <a:avLst/>
          </a:prstGeom>
          <a:noFill/>
        </p:spPr>
        <p:txBody>
          <a:bodyPr wrap="square">
            <a:spAutoFit/>
          </a:bodyPr>
          <a:lstStyle/>
          <a:p>
            <a:pPr algn="l"/>
            <a:r>
              <a:rPr sz="850" b="1" i="0">
                <a:solidFill>
                  <a:srgbClr val="222222"/>
                </a:solidFill>
                <a:latin typeface="DM Sans"/>
              </a:rPr>
              <a:t>YOU APPROVE</a:t>
            </a:r>
          </a:p>
        </p:txBody>
      </p:sp>
      <p:sp>
        <p:nvSpPr>
          <p:cNvPr id="20" name="TextBox 19"/>
          <p:cNvSpPr txBox="1"/>
          <p:nvPr/>
        </p:nvSpPr>
        <p:spPr>
          <a:xfrm>
            <a:off x="6277356" y="2560320"/>
            <a:ext cx="2727198" cy="3200400"/>
          </a:xfrm>
          <a:prstGeom prst="rect">
            <a:avLst/>
          </a:prstGeom>
          <a:noFill/>
        </p:spPr>
        <p:txBody>
          <a:bodyPr wrap="square">
            <a:spAutoFit/>
          </a:bodyPr>
          <a:lstStyle/>
          <a:p>
            <a:pPr algn="l"/>
            <a:r>
              <a:rPr sz="800" b="0" i="0">
                <a:solidFill>
                  <a:srgbClr val="666666"/>
                </a:solidFill>
                <a:latin typeface="DM Sans"/>
              </a:rPr>
              <a:t>Pick your match. We handle contracts, onboarding, and kick-off. You brief once. Work starts immediately.</a:t>
            </a:r>
          </a:p>
        </p:txBody>
      </p:sp>
      <p:sp>
        <p:nvSpPr>
          <p:cNvPr id="21" name="TextBox 20"/>
          <p:cNvSpPr txBox="1"/>
          <p:nvPr/>
        </p:nvSpPr>
        <p:spPr>
          <a:xfrm>
            <a:off x="6277356" y="6263640"/>
            <a:ext cx="2772918" cy="365760"/>
          </a:xfrm>
          <a:prstGeom prst="rect">
            <a:avLst/>
          </a:prstGeom>
          <a:noFill/>
        </p:spPr>
        <p:txBody>
          <a:bodyPr wrap="square">
            <a:spAutoFit/>
          </a:bodyPr>
          <a:lstStyle/>
          <a:p>
            <a:pPr algn="l"/>
            <a:r>
              <a:rPr sz="750" b="1" i="0">
                <a:solidFill>
                  <a:srgbClr val="CC1500"/>
                </a:solidFill>
                <a:latin typeface="DM Sans"/>
              </a:rPr>
              <a:t>Day 3</a:t>
            </a:r>
          </a:p>
        </p:txBody>
      </p:sp>
      <p:sp>
        <p:nvSpPr>
          <p:cNvPr id="22" name="Rectangle 21"/>
          <p:cNvSpPr/>
          <p:nvPr/>
        </p:nvSpPr>
        <p:spPr>
          <a:xfrm>
            <a:off x="6094476" y="1005840"/>
            <a:ext cx="6350" cy="5852160"/>
          </a:xfrm>
          <a:prstGeom prst="rect">
            <a:avLst/>
          </a:prstGeom>
          <a:solidFill>
            <a:srgbClr val="E8DF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141714" y="1005840"/>
            <a:ext cx="3047238" cy="5852160"/>
          </a:xfrm>
          <a:prstGeom prst="rect">
            <a:avLst/>
          </a:prstGeom>
          <a:solidFill>
            <a:srgbClr val="EEE7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24594" y="1280160"/>
            <a:ext cx="2772918" cy="777240"/>
          </a:xfrm>
          <a:prstGeom prst="rect">
            <a:avLst/>
          </a:prstGeom>
          <a:noFill/>
        </p:spPr>
        <p:txBody>
          <a:bodyPr wrap="square">
            <a:spAutoFit/>
          </a:bodyPr>
          <a:lstStyle/>
          <a:p>
            <a:pPr algn="l"/>
            <a:r>
              <a:rPr sz="3800" b="1" i="0">
                <a:solidFill>
                  <a:srgbClr val="CC1500"/>
                </a:solidFill>
                <a:latin typeface="Arial Black"/>
              </a:rPr>
              <a:t>4</a:t>
            </a:r>
          </a:p>
        </p:txBody>
      </p:sp>
      <p:sp>
        <p:nvSpPr>
          <p:cNvPr id="25" name="TextBox 24"/>
          <p:cNvSpPr txBox="1"/>
          <p:nvPr/>
        </p:nvSpPr>
        <p:spPr>
          <a:xfrm>
            <a:off x="9324594" y="2103120"/>
            <a:ext cx="2772918" cy="411480"/>
          </a:xfrm>
          <a:prstGeom prst="rect">
            <a:avLst/>
          </a:prstGeom>
          <a:noFill/>
        </p:spPr>
        <p:txBody>
          <a:bodyPr wrap="square">
            <a:spAutoFit/>
          </a:bodyPr>
          <a:lstStyle/>
          <a:p>
            <a:pPr algn="l"/>
            <a:r>
              <a:rPr sz="850" b="1" i="0">
                <a:solidFill>
                  <a:srgbClr val="222222"/>
                </a:solidFill>
                <a:latin typeface="DM Sans"/>
              </a:rPr>
              <a:t>WE DELIVER</a:t>
            </a:r>
          </a:p>
        </p:txBody>
      </p:sp>
      <p:sp>
        <p:nvSpPr>
          <p:cNvPr id="26" name="TextBox 25"/>
          <p:cNvSpPr txBox="1"/>
          <p:nvPr/>
        </p:nvSpPr>
        <p:spPr>
          <a:xfrm>
            <a:off x="9324594" y="2560320"/>
            <a:ext cx="2727198" cy="3200400"/>
          </a:xfrm>
          <a:prstGeom prst="rect">
            <a:avLst/>
          </a:prstGeom>
          <a:noFill/>
        </p:spPr>
        <p:txBody>
          <a:bodyPr wrap="square">
            <a:spAutoFit/>
          </a:bodyPr>
          <a:lstStyle/>
          <a:p>
            <a:pPr algn="l"/>
            <a:r>
              <a:rPr sz="800" b="0" i="0">
                <a:solidFill>
                  <a:srgbClr val="666666"/>
                </a:solidFill>
                <a:latin typeface="DM Sans"/>
              </a:rPr>
              <a:t>Milestones, feedback loops, and final sign-off. We stay in the thread from first brief to final file. The accountability doesn't leave when the talent arrives.</a:t>
            </a:r>
          </a:p>
        </p:txBody>
      </p:sp>
      <p:sp>
        <p:nvSpPr>
          <p:cNvPr id="27" name="TextBox 26"/>
          <p:cNvSpPr txBox="1"/>
          <p:nvPr/>
        </p:nvSpPr>
        <p:spPr>
          <a:xfrm>
            <a:off x="9324594" y="6263640"/>
            <a:ext cx="2772918" cy="365760"/>
          </a:xfrm>
          <a:prstGeom prst="rect">
            <a:avLst/>
          </a:prstGeom>
          <a:noFill/>
        </p:spPr>
        <p:txBody>
          <a:bodyPr wrap="square">
            <a:spAutoFit/>
          </a:bodyPr>
          <a:lstStyle/>
          <a:p>
            <a:pPr algn="l"/>
            <a:r>
              <a:rPr sz="750" b="1" i="0">
                <a:solidFill>
                  <a:srgbClr val="CC1500"/>
                </a:solidFill>
                <a:latin typeface="DM Sans"/>
              </a:rPr>
              <a:t>On deadline</a:t>
            </a:r>
          </a:p>
        </p:txBody>
      </p:sp>
      <p:sp>
        <p:nvSpPr>
          <p:cNvPr id="28" name="Rectangle 27"/>
          <p:cNvSpPr/>
          <p:nvPr/>
        </p:nvSpPr>
        <p:spPr>
          <a:xfrm>
            <a:off x="9141714" y="1005840"/>
            <a:ext cx="6350" cy="5852160"/>
          </a:xfrm>
          <a:prstGeom prst="rect">
            <a:avLst/>
          </a:prstGeom>
          <a:solidFill>
            <a:srgbClr val="E8DF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274552" y="6583680"/>
            <a:ext cx="731520" cy="228600"/>
          </a:xfrm>
          <a:prstGeom prst="rect">
            <a:avLst/>
          </a:prstGeom>
          <a:noFill/>
        </p:spPr>
        <p:txBody>
          <a:bodyPr wrap="square">
            <a:spAutoFit/>
          </a:bodyPr>
          <a:lstStyle/>
          <a:p>
            <a:pPr algn="r"/>
            <a:r>
              <a:rPr sz="700" b="0" i="0">
                <a:solidFill>
                  <a:srgbClr val="999999"/>
                </a:solidFill>
                <a:latin typeface="DM Sans"/>
              </a:rPr>
              <a:t>06 / 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6429512" cy="365760"/>
          </a:xfrm>
          <a:prstGeom prst="rect">
            <a:avLst/>
          </a:prstGeom>
          <a:noFill/>
        </p:spPr>
        <p:txBody>
          <a:bodyPr wrap="square">
            <a:spAutoFit/>
          </a:bodyPr>
          <a:lstStyle/>
          <a:p>
            <a:pPr algn="l"/>
            <a:r>
              <a:rPr sz="750" b="1" i="0">
                <a:solidFill>
                  <a:srgbClr val="CC1500"/>
                </a:solidFill>
                <a:latin typeface="DM Sans"/>
              </a:rPr>
              <a:t>START HERE</a:t>
            </a:r>
          </a:p>
        </p:txBody>
      </p:sp>
      <p:sp>
        <p:nvSpPr>
          <p:cNvPr id="4" name="TextBox 3"/>
          <p:cNvSpPr txBox="1"/>
          <p:nvPr/>
        </p:nvSpPr>
        <p:spPr>
          <a:xfrm>
            <a:off x="457200" y="1005840"/>
            <a:ext cx="6429512" cy="2194560"/>
          </a:xfrm>
          <a:prstGeom prst="rect">
            <a:avLst/>
          </a:prstGeom>
          <a:noFill/>
        </p:spPr>
        <p:txBody>
          <a:bodyPr wrap="square">
            <a:spAutoFit/>
          </a:bodyPr>
          <a:lstStyle/>
          <a:p>
            <a:pPr algn="l"/>
            <a:r>
              <a:rPr sz="2600" b="0" i="0">
                <a:solidFill>
                  <a:srgbClr val="FFFFFF"/>
                </a:solidFill>
                <a:latin typeface="Georgia"/>
              </a:rPr>
              <a:t>Your next campaign deserves a partner who understands this market.</a:t>
            </a:r>
          </a:p>
        </p:txBody>
      </p:sp>
      <p:sp>
        <p:nvSpPr>
          <p:cNvPr id="5" name="TextBox 4"/>
          <p:cNvSpPr txBox="1"/>
          <p:nvPr/>
        </p:nvSpPr>
        <p:spPr>
          <a:xfrm>
            <a:off x="457200" y="3657600"/>
            <a:ext cx="6429512" cy="2286000"/>
          </a:xfrm>
          <a:prstGeom prst="rect">
            <a:avLst/>
          </a:prstGeom>
          <a:noFill/>
        </p:spPr>
        <p:txBody>
          <a:bodyPr wrap="square">
            <a:spAutoFit/>
          </a:bodyPr>
          <a:lstStyle/>
          <a:p>
            <a:pPr algn="l"/>
            <a:r>
              <a:rPr sz="900" b="0" i="0">
                <a:solidFill>
                  <a:srgbClr val="666666"/>
                </a:solidFill>
                <a:latin typeface="DM Sans"/>
              </a:rPr>
              <a:t>We're not a platform. We're not an agency. We're the people who know the right person for your brief — and who make sure they deliver. Lagos, Abuja, Port Harcourt. One brief away.</a:t>
            </a:r>
          </a:p>
        </p:txBody>
      </p:sp>
      <p:sp>
        <p:nvSpPr>
          <p:cNvPr id="6" name="Rectangle 5"/>
          <p:cNvSpPr/>
          <p:nvPr/>
        </p:nvSpPr>
        <p:spPr>
          <a:xfrm>
            <a:off x="7069592" y="0"/>
            <a:ext cx="5119360" cy="6858000"/>
          </a:xfrm>
          <a:prstGeom prst="rect">
            <a:avLst/>
          </a:prstGeom>
          <a:solidFill>
            <a:srgbClr val="CC1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43912" y="502920"/>
            <a:ext cx="4753600" cy="365760"/>
          </a:xfrm>
          <a:prstGeom prst="rect">
            <a:avLst/>
          </a:prstGeom>
          <a:noFill/>
        </p:spPr>
        <p:txBody>
          <a:bodyPr wrap="square">
            <a:spAutoFit/>
          </a:bodyPr>
          <a:lstStyle/>
          <a:p>
            <a:pPr algn="l"/>
            <a:r>
              <a:rPr sz="700" b="0" i="0">
                <a:solidFill>
                  <a:srgbClr val="FFFFFF"/>
                </a:solidFill>
                <a:latin typeface="DM Sans"/>
              </a:rPr>
              <a:t>GET IN TOUCH</a:t>
            </a:r>
          </a:p>
        </p:txBody>
      </p:sp>
      <p:sp>
        <p:nvSpPr>
          <p:cNvPr id="8" name="TextBox 7"/>
          <p:cNvSpPr txBox="1"/>
          <p:nvPr/>
        </p:nvSpPr>
        <p:spPr>
          <a:xfrm>
            <a:off x="7343912" y="1188720"/>
            <a:ext cx="4753600" cy="2286000"/>
          </a:xfrm>
          <a:prstGeom prst="rect">
            <a:avLst/>
          </a:prstGeom>
          <a:noFill/>
        </p:spPr>
        <p:txBody>
          <a:bodyPr wrap="square">
            <a:spAutoFit/>
          </a:bodyPr>
          <a:lstStyle/>
          <a:p>
            <a:pPr algn="l"/>
            <a:r>
              <a:rPr sz="3600" b="1" i="0">
                <a:solidFill>
                  <a:srgbClr val="FFFFFF"/>
                </a:solidFill>
                <a:latin typeface="Arial Black"/>
              </a:rPr>
              <a:t>Brief Us
Today.</a:t>
            </a:r>
          </a:p>
        </p:txBody>
      </p:sp>
      <p:sp>
        <p:nvSpPr>
          <p:cNvPr id="9" name="TextBox 8"/>
          <p:cNvSpPr txBox="1"/>
          <p:nvPr/>
        </p:nvSpPr>
        <p:spPr>
          <a:xfrm>
            <a:off x="7343912" y="4754880"/>
            <a:ext cx="4753600" cy="411480"/>
          </a:xfrm>
          <a:prstGeom prst="rect">
            <a:avLst/>
          </a:prstGeom>
          <a:noFill/>
        </p:spPr>
        <p:txBody>
          <a:bodyPr wrap="square">
            <a:spAutoFit/>
          </a:bodyPr>
          <a:lstStyle/>
          <a:p>
            <a:pPr algn="l"/>
            <a:r>
              <a:rPr sz="900" b="0" i="0">
                <a:solidFill>
                  <a:srgbClr val="FFFFFF"/>
                </a:solidFill>
                <a:latin typeface="DM Sans"/>
              </a:rPr>
              <a:t>hello@commcorp.co</a:t>
            </a:r>
          </a:p>
        </p:txBody>
      </p:sp>
      <p:sp>
        <p:nvSpPr>
          <p:cNvPr id="10" name="TextBox 9"/>
          <p:cNvSpPr txBox="1"/>
          <p:nvPr/>
        </p:nvSpPr>
        <p:spPr>
          <a:xfrm>
            <a:off x="7343912" y="5212080"/>
            <a:ext cx="4753600" cy="411480"/>
          </a:xfrm>
          <a:prstGeom prst="rect">
            <a:avLst/>
          </a:prstGeom>
          <a:noFill/>
        </p:spPr>
        <p:txBody>
          <a:bodyPr wrap="square">
            <a:spAutoFit/>
          </a:bodyPr>
          <a:lstStyle/>
          <a:p>
            <a:pPr algn="l"/>
            <a:r>
              <a:rPr sz="900" b="0" i="0">
                <a:solidFill>
                  <a:srgbClr val="FFFFFF"/>
                </a:solidFill>
                <a:latin typeface="DM Sans"/>
              </a:rPr>
              <a:t>www.commcorp.co</a:t>
            </a:r>
          </a:p>
        </p:txBody>
      </p:sp>
      <p:sp>
        <p:nvSpPr>
          <p:cNvPr id="11" name="TextBox 10"/>
          <p:cNvSpPr txBox="1"/>
          <p:nvPr/>
        </p:nvSpPr>
        <p:spPr>
          <a:xfrm>
            <a:off x="7343912" y="5669280"/>
            <a:ext cx="4753600" cy="411480"/>
          </a:xfrm>
          <a:prstGeom prst="rect">
            <a:avLst/>
          </a:prstGeom>
          <a:noFill/>
        </p:spPr>
        <p:txBody>
          <a:bodyPr wrap="square">
            <a:spAutoFit/>
          </a:bodyPr>
          <a:lstStyle/>
          <a:p>
            <a:pPr algn="l"/>
            <a:r>
              <a:rPr sz="750" b="0" i="0">
                <a:solidFill>
                  <a:srgbClr val="FFAAAA"/>
                </a:solidFill>
                <a:latin typeface="DM Sans"/>
              </a:rPr>
              <a:t>Lagos · Abuja · Port Harcourt</a:t>
            </a:r>
          </a:p>
        </p:txBody>
      </p:sp>
      <p:sp>
        <p:nvSpPr>
          <p:cNvPr id="12" name="TextBox 11"/>
          <p:cNvSpPr txBox="1"/>
          <p:nvPr/>
        </p:nvSpPr>
        <p:spPr>
          <a:xfrm>
            <a:off x="11457432" y="6583680"/>
            <a:ext cx="640080" cy="228600"/>
          </a:xfrm>
          <a:prstGeom prst="rect">
            <a:avLst/>
          </a:prstGeom>
          <a:noFill/>
        </p:spPr>
        <p:txBody>
          <a:bodyPr wrap="square">
            <a:spAutoFit/>
          </a:bodyPr>
          <a:lstStyle/>
          <a:p>
            <a:pPr algn="r"/>
            <a:r>
              <a:rPr sz="700" b="0" i="0">
                <a:solidFill>
                  <a:srgbClr val="555555"/>
                </a:solidFill>
                <a:latin typeface="DM Sans"/>
              </a:rPr>
              <a:t>07 / 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